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2925" y="4668441"/>
            <a:ext cx="8058150" cy="0"/>
          </a:xfrm>
          <a:prstGeom prst="line">
            <a:avLst/>
          </a:prstGeom>
          <a:noFill/>
          <a:ln w="7144">
            <a:solidFill>
              <a:srgbClr val="99F6E4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97235" y="1131503"/>
            <a:ext cx="35719" cy="35719"/>
          </a:xfrm>
          <a:prstGeom prst="ellipse">
            <a:avLst/>
          </a:prstGeom>
          <a:solidFill>
            <a:srgbClr val="5EEAD4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2560253" y="3291818"/>
            <a:ext cx="21431" cy="21431"/>
          </a:xfrm>
          <a:prstGeom prst="ellipse">
            <a:avLst/>
          </a:prstGeom>
          <a:solidFill>
            <a:srgbClr val="99F6E4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4206218" y="822871"/>
            <a:ext cx="28575" cy="28575"/>
          </a:xfrm>
          <a:prstGeom prst="ellipse">
            <a:avLst/>
          </a:prstGeom>
          <a:solidFill>
            <a:srgbClr val="6EE7B7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486400" y="3806168"/>
            <a:ext cx="21431" cy="21431"/>
          </a:xfrm>
          <a:prstGeom prst="ellipse">
            <a:avLst/>
          </a:prstGeom>
          <a:solidFill>
            <a:srgbClr val="5EEAD4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7680871" y="1543050"/>
            <a:ext cx="42863" cy="42863"/>
          </a:xfrm>
          <a:prstGeom prst="ellipse">
            <a:avLst/>
          </a:prstGeom>
          <a:solidFill>
            <a:srgbClr val="C4B5FD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400800" y="617153"/>
            <a:ext cx="28575" cy="28575"/>
          </a:xfrm>
          <a:prstGeom prst="ellipse">
            <a:avLst/>
          </a:prstGeom>
          <a:solidFill>
            <a:srgbClr val="99F6E4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100" y="1069218"/>
            <a:ext cx="3005063" cy="30050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34100" y="1069218"/>
            <a:ext cx="3005063" cy="3005063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864394"/>
            <a:ext cx="3414713" cy="34147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6497" y="1247241"/>
            <a:ext cx="1947342" cy="228600"/>
          </a:xfrm>
          <a:prstGeom prst="roundRect">
            <a:avLst>
              <a:gd name="adj" fmla="val 4162500"/>
            </a:avLst>
          </a:prstGeom>
          <a:solidFill>
            <a:srgbClr val="5EEAD4">
              <a:alpha val="14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542925" y="1243669"/>
            <a:ext cx="195448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13" kern="0" dirty="0">
                <a:solidFill>
                  <a:srgbClr val="99F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BLIND PLATE MANAGEMENT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2583135" y="1230867"/>
            <a:ext cx="1314338" cy="261347"/>
          </a:xfrm>
          <a:prstGeom prst="roundRect">
            <a:avLst>
              <a:gd name="adj" fmla="val 3640935"/>
            </a:avLst>
          </a:prstGeom>
          <a:noFill/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2583135" y="1243669"/>
            <a:ext cx="13143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3" spc="113" kern="0" dirty="0">
                <a:solidFill>
                  <a:srgbClr val="99F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GB</a:t>
            </a:r>
            <a:pPr algn="ctr" indent="0" marL="0">
              <a:buNone/>
            </a:pPr>
            <a:r>
              <a:rPr lang="en-US" sz="703" spc="113" kern="0" dirty="0">
                <a:solidFill>
                  <a:srgbClr val="99F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703" spc="113" kern="0" dirty="0">
                <a:solidFill>
                  <a:srgbClr val="99F6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30871</a:t>
            </a:r>
            <a:pPr algn="ctr" indent="0" marL="0">
              <a:buNone/>
            </a:pPr>
            <a:r>
              <a:rPr lang="en-US" sz="703" spc="113" kern="0" dirty="0">
                <a:solidFill>
                  <a:srgbClr val="99F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合规体系</a:t>
            </a:r>
            <a:endParaRPr lang="en-US" sz="703" dirty="0"/>
          </a:p>
        </p:txBody>
      </p:sp>
      <p:sp>
        <p:nvSpPr>
          <p:cNvPr id="19" name="Text 12"/>
          <p:cNvSpPr/>
          <p:nvPr/>
        </p:nvSpPr>
        <p:spPr>
          <a:xfrm>
            <a:off x="542925" y="1693725"/>
            <a:ext cx="6649760" cy="308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8" spc="844" kern="0" dirty="0">
                <a:solidFill>
                  <a:srgbClr val="99F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 化 厂</a:t>
            </a:r>
            <a:endParaRPr lang="en-US" sz="1688" dirty="0"/>
          </a:p>
        </p:txBody>
      </p:sp>
      <p:sp>
        <p:nvSpPr>
          <p:cNvPr id="20" name="Text 13"/>
          <p:cNvSpPr/>
          <p:nvPr/>
        </p:nvSpPr>
        <p:spPr>
          <a:xfrm>
            <a:off x="542925" y="2029481"/>
            <a:ext cx="5486052" cy="752357"/>
          </a:xfrm>
          <a:prstGeom prst="rect">
            <a:avLst/>
          </a:prstGeom>
          <a:noFill/>
          <a:ln/>
          <a:effectLst>
            <a:outerShdw sx="100000" sy="100000" kx="0" ky="0" algn="bl" rotWithShape="0" blurRad="419100" dist="9525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5486"/>
              </a:lnSpc>
              <a:buNone/>
            </a:pPr>
            <a:r>
              <a:rPr lang="en-US" sz="5175" b="1" spc="207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盲板管理系统</a:t>
            </a:r>
            <a:endParaRPr lang="en-US" sz="517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883271"/>
            <a:ext cx="942975" cy="428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2925" y="3054721"/>
            <a:ext cx="482107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 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CCFB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GB</a:t>
            </a:r>
            <a:pPr algn="l" indent="0" marL="0">
              <a:buNone/>
            </a:pPr>
            <a:r>
              <a:rPr lang="en-US" sz="1125" spc="68" kern="0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125" spc="68" kern="0" dirty="0">
                <a:solidFill>
                  <a:srgbClr val="CCFB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30871</a:t>
            </a:r>
            <a:pPr algn="l" indent="0" marL="0">
              <a:buNone/>
            </a:pPr>
            <a:r>
              <a:rPr lang="en-US" sz="1125" spc="68" kern="0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合规</a:t>
            </a:r>
            <a:endParaRPr lang="en-US" sz="1125" dirty="0"/>
          </a:p>
        </p:txBody>
      </p:sp>
      <p:sp>
        <p:nvSpPr>
          <p:cNvPr id="23" name="Text 15"/>
          <p:cNvSpPr/>
          <p:nvPr/>
        </p:nvSpPr>
        <p:spPr>
          <a:xfrm>
            <a:off x="542925" y="3491976"/>
            <a:ext cx="1000125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" y="3586930"/>
            <a:ext cx="128588" cy="128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15727" y="3583358"/>
            <a:ext cx="6474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九环节闭环</a:t>
            </a:r>
            <a:endParaRPr lang="en-US" sz="816" dirty="0"/>
          </a:p>
        </p:txBody>
      </p:sp>
      <p:sp>
        <p:nvSpPr>
          <p:cNvPr id="26" name="Text 17"/>
          <p:cNvSpPr/>
          <p:nvPr/>
        </p:nvSpPr>
        <p:spPr>
          <a:xfrm>
            <a:off x="1643063" y="3491976"/>
            <a:ext cx="892969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794" y="3586930"/>
            <a:ext cx="128588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923401" y="3583358"/>
            <a:ext cx="5251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双端协同</a:t>
            </a:r>
            <a:endParaRPr lang="en-US" sz="816" dirty="0"/>
          </a:p>
        </p:txBody>
      </p:sp>
      <p:sp>
        <p:nvSpPr>
          <p:cNvPr id="29" name="Text 19"/>
          <p:cNvSpPr/>
          <p:nvPr/>
        </p:nvSpPr>
        <p:spPr>
          <a:xfrm>
            <a:off x="2636044" y="3491976"/>
            <a:ext cx="1129494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1775" y="3586930"/>
            <a:ext cx="128588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903859" y="3583358"/>
            <a:ext cx="7867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CCFB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buNone/>
            </a:pPr>
            <a:r>
              <a:rPr lang="en-US" sz="816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数字孪生</a:t>
            </a:r>
            <a:endParaRPr lang="en-US" sz="816" dirty="0"/>
          </a:p>
        </p:txBody>
      </p:sp>
      <p:sp>
        <p:nvSpPr>
          <p:cNvPr id="32" name="Text 21"/>
          <p:cNvSpPr/>
          <p:nvPr/>
        </p:nvSpPr>
        <p:spPr>
          <a:xfrm>
            <a:off x="3865550" y="3491976"/>
            <a:ext cx="833475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C4B5F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1281" y="3586930"/>
            <a:ext cx="128588" cy="1285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145477" y="3583358"/>
            <a:ext cx="466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DDD6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buNone/>
            </a:pPr>
            <a:r>
              <a:rPr lang="en-US" sz="816" dirty="0">
                <a:solidFill>
                  <a:srgbClr val="DDD6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提效</a:t>
            </a:r>
            <a:endParaRPr lang="en-US" sz="816" dirty="0"/>
          </a:p>
        </p:txBody>
      </p:sp>
      <p:sp>
        <p:nvSpPr>
          <p:cNvPr id="35" name="Text 23"/>
          <p:cNvSpPr/>
          <p:nvPr/>
        </p:nvSpPr>
        <p:spPr>
          <a:xfrm>
            <a:off x="542925" y="4786313"/>
            <a:ext cx="65223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spc="44" kern="0" dirty="0">
                <a:solidFill>
                  <a:srgbClr val="CCFBF1">
                    <a:alpha val="7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石化厂盲板抽堵作业 · 全流程数字化管理平台</a:t>
            </a:r>
            <a:endParaRPr lang="en-US" sz="731" dirty="0"/>
          </a:p>
        </p:txBody>
      </p:sp>
      <p:sp>
        <p:nvSpPr>
          <p:cNvPr id="36" name="Text 24"/>
          <p:cNvSpPr/>
          <p:nvPr/>
        </p:nvSpPr>
        <p:spPr>
          <a:xfrm>
            <a:off x="7630864" y="4839891"/>
            <a:ext cx="28575" cy="28575"/>
          </a:xfrm>
          <a:prstGeom prst="roundRect">
            <a:avLst>
              <a:gd name="adj" fmla="val 66667"/>
            </a:avLst>
          </a:prstGeom>
          <a:solidFill>
            <a:srgbClr val="99F6E4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5"/>
          <p:cNvSpPr/>
          <p:nvPr/>
        </p:nvSpPr>
        <p:spPr>
          <a:xfrm>
            <a:off x="7079568" y="4786313"/>
            <a:ext cx="15215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spc="44" kern="0" dirty="0">
                <a:solidFill>
                  <a:srgbClr val="CCFBF1">
                    <a:alpha val="7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</a:t>
            </a:r>
            <a:pPr algn="l" indent="0" marL="0">
              <a:buNone/>
            </a:pPr>
            <a:r>
              <a:rPr lang="en-US" sz="731" spc="44" kern="0" dirty="0">
                <a:solidFill>
                  <a:srgbClr val="CCFBF1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</a:t>
            </a:r>
            <a:pPr algn="l" indent="0" marL="0">
              <a:buNone/>
            </a:pPr>
            <a:r>
              <a:rPr lang="en-US" sz="731" spc="44" kern="0" dirty="0">
                <a:solidFill>
                  <a:srgbClr val="CCFBF1">
                    <a:alpha val="7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 </a:t>
            </a:r>
            <a:pPr algn="l" indent="0" marL="0">
              <a:buNone/>
            </a:pPr>
            <a:r>
              <a:rPr lang="en-US" sz="731" spc="44" kern="0" dirty="0">
                <a:solidFill>
                  <a:srgbClr val="CCFBF1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872319" y="314325"/>
            <a:ext cx="372733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盲板管理痛点</a:t>
            </a:r>
            <a:pPr algn="l" indent="0" marL="0">
              <a:buNone/>
            </a:pP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72319" y="457200"/>
            <a:ext cx="3219609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为什么要做，</a:t>
            </a:r>
            <a:pPr algn="l" indent="0" marL="0">
              <a:lnSpc>
                <a:spcPts val="1958"/>
              </a:lnSpc>
              <a:buNone/>
            </a:pPr>
            <a:endParaRPr lang="en-US" sz="1631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盲板管理四道坎</a:t>
            </a:r>
            <a:pPr algn="l" indent="0" marL="0">
              <a:lnSpc>
                <a:spcPts val="1958"/>
              </a:lnSpc>
              <a:buNone/>
            </a:pPr>
            <a:endParaRPr lang="en-US" sz="163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01" y="502853"/>
            <a:ext cx="3727698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03622" y="866515"/>
            <a:ext cx="2814638" cy="1918767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9050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92931" y="1647304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754460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706" y="1554547"/>
            <a:ext cx="1978819" cy="182273"/>
          </a:xfrm>
          <a:prstGeom prst="rect">
            <a:avLst/>
          </a:prstGeom>
          <a:noFill/>
          <a:ln/>
        </p:spPr>
        <p:txBody>
          <a:bodyPr wrap="none" lIns="0" tIns="0" rIns="557213" bIns="0" rtlCol="0" anchor="t"/>
          <a:lstStyle/>
          <a:p>
            <a:pPr algn="l" indent="0" marL="0">
              <a:lnSpc>
                <a:spcPts val="1329"/>
              </a:lnSpc>
              <a:buNone/>
            </a:pPr>
            <a:r>
              <a:rPr lang="en-US" sz="984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基础主数据不全不精确</a:t>
            </a:r>
            <a:endParaRPr lang="en-US" sz="984" dirty="0"/>
          </a:p>
        </p:txBody>
      </p:sp>
      <p:sp>
        <p:nvSpPr>
          <p:cNvPr id="13" name="Text 8"/>
          <p:cNvSpPr/>
          <p:nvPr/>
        </p:nvSpPr>
        <p:spPr>
          <a:xfrm>
            <a:off x="1078706" y="1780468"/>
            <a:ext cx="1978819" cy="357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台账靠 Excel 手工维护，图纸与现场脱节，方案无据可依</a:t>
            </a:r>
            <a:endParaRPr lang="en-US" sz="776" dirty="0"/>
          </a:p>
        </p:txBody>
      </p:sp>
      <p:sp>
        <p:nvSpPr>
          <p:cNvPr id="14" name="Text 9"/>
          <p:cNvSpPr/>
          <p:nvPr/>
        </p:nvSpPr>
        <p:spPr>
          <a:xfrm>
            <a:off x="2565464" y="974528"/>
            <a:ext cx="555498" cy="184023"/>
          </a:xfrm>
          <a:prstGeom prst="roundRect">
            <a:avLst>
              <a:gd name="adj" fmla="val 5170807"/>
            </a:avLst>
          </a:prstGeom>
          <a:solidFill>
            <a:srgbClr val="FFF1F2"/>
          </a:solidFill>
          <a:ln w="7144">
            <a:solidFill>
              <a:srgbClr val="FECD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543175" y="984386"/>
            <a:ext cx="514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数据失真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3368278" y="866515"/>
            <a:ext cx="2814638" cy="1918767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9050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557588" y="1647304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744" y="1754460"/>
            <a:ext cx="157163" cy="157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43363" y="1470161"/>
            <a:ext cx="1978819" cy="364546"/>
          </a:xfrm>
          <a:prstGeom prst="rect">
            <a:avLst/>
          </a:prstGeom>
          <a:noFill/>
          <a:ln/>
        </p:spPr>
        <p:txBody>
          <a:bodyPr wrap="none" lIns="0" tIns="0" rIns="557213" bIns="0" rtlCol="0" anchor="t"/>
          <a:lstStyle/>
          <a:p>
            <a:pPr algn="l" indent="0" marL="0">
              <a:lnSpc>
                <a:spcPts val="1329"/>
              </a:lnSpc>
              <a:buNone/>
            </a:pPr>
            <a:r>
              <a:rPr lang="en-US" sz="984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隔离点位置错误、漏挂漏拆</a:t>
            </a:r>
            <a:endParaRPr lang="en-US" sz="984" dirty="0"/>
          </a:p>
        </p:txBody>
      </p:sp>
      <p:sp>
        <p:nvSpPr>
          <p:cNvPr id="20" name="Text 14"/>
          <p:cNvSpPr/>
          <p:nvPr/>
        </p:nvSpPr>
        <p:spPr>
          <a:xfrm>
            <a:off x="4043363" y="1864854"/>
            <a:ext cx="1978819" cy="357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方案凭经验手绘，装错位置、漏加漏拆，串漏后果严重</a:t>
            </a:r>
            <a:endParaRPr lang="en-US" sz="776" dirty="0"/>
          </a:p>
        </p:txBody>
      </p:sp>
      <p:sp>
        <p:nvSpPr>
          <p:cNvPr id="21" name="Text 15"/>
          <p:cNvSpPr/>
          <p:nvPr/>
        </p:nvSpPr>
        <p:spPr>
          <a:xfrm>
            <a:off x="5530120" y="974528"/>
            <a:ext cx="555498" cy="184023"/>
          </a:xfrm>
          <a:prstGeom prst="roundRect">
            <a:avLst>
              <a:gd name="adj" fmla="val 5170807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507831" y="984386"/>
            <a:ext cx="514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隔离风险</a:t>
            </a:r>
            <a:endParaRPr lang="en-US" sz="700" dirty="0"/>
          </a:p>
        </p:txBody>
      </p:sp>
      <p:sp>
        <p:nvSpPr>
          <p:cNvPr id="23" name="Text 17"/>
          <p:cNvSpPr/>
          <p:nvPr/>
        </p:nvSpPr>
        <p:spPr>
          <a:xfrm>
            <a:off x="403622" y="2935300"/>
            <a:ext cx="2814638" cy="1918878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9050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92931" y="3716089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3823246"/>
            <a:ext cx="157163" cy="15716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8706" y="3623332"/>
            <a:ext cx="1978819" cy="182273"/>
          </a:xfrm>
          <a:prstGeom prst="rect">
            <a:avLst/>
          </a:prstGeom>
          <a:noFill/>
          <a:ln/>
        </p:spPr>
        <p:txBody>
          <a:bodyPr wrap="none" lIns="0" tIns="0" rIns="557213" bIns="0" rtlCol="0" anchor="t"/>
          <a:lstStyle/>
          <a:p>
            <a:pPr algn="l" indent="0" marL="0">
              <a:lnSpc>
                <a:spcPts val="1329"/>
              </a:lnSpc>
              <a:buNone/>
            </a:pPr>
            <a:r>
              <a:rPr lang="en-US" sz="984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工艺处置不到位、流于形式</a:t>
            </a:r>
            <a:endParaRPr lang="en-US" sz="984" dirty="0"/>
          </a:p>
        </p:txBody>
      </p:sp>
      <p:sp>
        <p:nvSpPr>
          <p:cNvPr id="27" name="Text 20"/>
          <p:cNvSpPr/>
          <p:nvPr/>
        </p:nvSpPr>
        <p:spPr>
          <a:xfrm>
            <a:off x="1078706" y="3849253"/>
            <a:ext cx="1978819" cy="357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吹扫置换凭口头交底，未确认到位即开工，风险高</a:t>
            </a:r>
            <a:endParaRPr lang="en-US" sz="776" dirty="0"/>
          </a:p>
        </p:txBody>
      </p:sp>
      <p:sp>
        <p:nvSpPr>
          <p:cNvPr id="28" name="Text 21"/>
          <p:cNvSpPr/>
          <p:nvPr/>
        </p:nvSpPr>
        <p:spPr>
          <a:xfrm>
            <a:off x="2565464" y="3043313"/>
            <a:ext cx="555498" cy="184023"/>
          </a:xfrm>
          <a:prstGeom prst="roundRect">
            <a:avLst>
              <a:gd name="adj" fmla="val 5170807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2543175" y="3053172"/>
            <a:ext cx="514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处置失控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3368278" y="2935300"/>
            <a:ext cx="2814638" cy="1918878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9050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557588" y="3716089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744" y="3823246"/>
            <a:ext cx="157163" cy="15716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043363" y="3623332"/>
            <a:ext cx="1978819" cy="182273"/>
          </a:xfrm>
          <a:prstGeom prst="rect">
            <a:avLst/>
          </a:prstGeom>
          <a:noFill/>
          <a:ln/>
        </p:spPr>
        <p:txBody>
          <a:bodyPr wrap="none" lIns="0" tIns="0" rIns="557213" bIns="0" rtlCol="0" anchor="t"/>
          <a:lstStyle/>
          <a:p>
            <a:pPr algn="l" indent="0" marL="0">
              <a:lnSpc>
                <a:spcPts val="1329"/>
              </a:lnSpc>
              <a:buNone/>
            </a:pPr>
            <a:r>
              <a:rPr lang="en-US" sz="984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纸质流转慢、全程不可溯</a:t>
            </a:r>
            <a:endParaRPr lang="en-US" sz="984" dirty="0"/>
          </a:p>
        </p:txBody>
      </p:sp>
      <p:sp>
        <p:nvSpPr>
          <p:cNvPr id="34" name="Text 26"/>
          <p:cNvSpPr/>
          <p:nvPr/>
        </p:nvSpPr>
        <p:spPr>
          <a:xfrm>
            <a:off x="4043363" y="3849253"/>
            <a:ext cx="1978819" cy="357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票证人工传递、签批靠人盯，事后检查取证翻箱倒柜</a:t>
            </a:r>
            <a:endParaRPr lang="en-US" sz="776" dirty="0"/>
          </a:p>
        </p:txBody>
      </p:sp>
      <p:sp>
        <p:nvSpPr>
          <p:cNvPr id="35" name="Text 27"/>
          <p:cNvSpPr/>
          <p:nvPr/>
        </p:nvSpPr>
        <p:spPr>
          <a:xfrm>
            <a:off x="5530120" y="3043313"/>
            <a:ext cx="555498" cy="184023"/>
          </a:xfrm>
          <a:prstGeom prst="roundRect">
            <a:avLst>
              <a:gd name="adj" fmla="val 5170807"/>
            </a:avLst>
          </a:prstGeom>
          <a:solidFill>
            <a:srgbClr val="FFF1F2"/>
          </a:solidFill>
          <a:ln w="7144">
            <a:solidFill>
              <a:srgbClr val="FECD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5507831" y="3053172"/>
            <a:ext cx="514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过程黑箱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6347222" y="866515"/>
            <a:ext cx="2393156" cy="1640160"/>
          </a:xfrm>
          <a:prstGeom prst="roundRect">
            <a:avLst>
              <a:gd name="adj" fmla="val 9292"/>
            </a:avLst>
          </a:prstGeom>
          <a:solidFill>
            <a:srgbClr val="FFF1F2"/>
          </a:solidFill>
          <a:ln w="7144">
            <a:solidFill>
              <a:srgbClr val="FECD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479381" y="1207963"/>
            <a:ext cx="64294" cy="64294"/>
          </a:xfrm>
          <a:prstGeom prst="roundRect">
            <a:avLst>
              <a:gd name="adj" fmla="val 66666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479381" y="1175817"/>
            <a:ext cx="212883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spc="38" kern="0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 · 纸上流转</a:t>
            </a:r>
            <a:endParaRPr lang="en-US" sz="759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381" y="1418704"/>
            <a:ext cx="107156" cy="1071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586538" y="1407988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Excel台账</a:t>
            </a:r>
            <a:endParaRPr lang="en-US" sz="731" dirty="0"/>
          </a:p>
        </p:txBody>
      </p:sp>
      <p:sp>
        <p:nvSpPr>
          <p:cNvPr id="42" name="Text 33"/>
          <p:cNvSpPr/>
          <p:nvPr/>
        </p:nvSpPr>
        <p:spPr>
          <a:xfrm>
            <a:off x="6958013" y="1407988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数据残缺</a:t>
            </a:r>
            <a:endParaRPr lang="en-US" sz="731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381" y="1625873"/>
            <a:ext cx="107156" cy="1071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586538" y="1615157"/>
            <a:ext cx="62893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经验画图</a:t>
            </a:r>
            <a:pPr algn="l" indent="0" marL="0">
              <a:buNone/>
            </a:pPr>
            <a:endParaRPr lang="en-US" sz="731" dirty="0"/>
          </a:p>
        </p:txBody>
      </p:sp>
      <p:sp>
        <p:nvSpPr>
          <p:cNvPr id="45" name="Text 35"/>
          <p:cNvSpPr/>
          <p:nvPr/>
        </p:nvSpPr>
        <p:spPr>
          <a:xfrm>
            <a:off x="7077894" y="1615157"/>
            <a:ext cx="1530325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隔离错位</a:t>
            </a:r>
            <a:endParaRPr lang="en-US" sz="731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381" y="1833042"/>
            <a:ext cx="107156" cy="10715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586538" y="1822326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口头确认</a:t>
            </a:r>
            <a:endParaRPr lang="en-US" sz="731" dirty="0"/>
          </a:p>
        </p:txBody>
      </p:sp>
      <p:sp>
        <p:nvSpPr>
          <p:cNvPr id="48" name="Text 37"/>
          <p:cNvSpPr/>
          <p:nvPr/>
        </p:nvSpPr>
        <p:spPr>
          <a:xfrm>
            <a:off x="6958013" y="1822326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处置缺位</a:t>
            </a:r>
            <a:endParaRPr lang="en-US" sz="731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9381" y="2040210"/>
            <a:ext cx="107156" cy="107156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586538" y="2029495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纸质签批</a:t>
            </a:r>
            <a:endParaRPr lang="en-US" sz="731" dirty="0"/>
          </a:p>
        </p:txBody>
      </p:sp>
      <p:sp>
        <p:nvSpPr>
          <p:cNvPr id="51" name="Text 39"/>
          <p:cNvSpPr/>
          <p:nvPr/>
        </p:nvSpPr>
        <p:spPr>
          <a:xfrm>
            <a:off x="6958013" y="2029495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追溯困难</a:t>
            </a:r>
            <a:endParaRPr lang="en-US" sz="731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6656" y="2567397"/>
            <a:ext cx="14288" cy="114300"/>
          </a:xfrm>
          <a:prstGeom prst="rect">
            <a:avLst/>
          </a:prstGeom>
        </p:spPr>
      </p:pic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6771" y="2731703"/>
            <a:ext cx="1034058" cy="257175"/>
          </a:xfrm>
          <a:prstGeom prst="rect">
            <a:avLst/>
          </a:prstGeom>
        </p:spPr>
      </p:pic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83934" y="2803141"/>
            <a:ext cx="114300" cy="11430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7328148" y="2795997"/>
            <a:ext cx="6027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spc="76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</a:t>
            </a:r>
            <a:endParaRPr lang="en-US" sz="759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6656" y="3038884"/>
            <a:ext cx="14288" cy="114300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6347222" y="3213906"/>
            <a:ext cx="2393156" cy="1640272"/>
          </a:xfrm>
          <a:prstGeom prst="roundRect">
            <a:avLst>
              <a:gd name="adj" fmla="val 9291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2"/>
          <p:cNvSpPr/>
          <p:nvPr/>
        </p:nvSpPr>
        <p:spPr>
          <a:xfrm>
            <a:off x="6479381" y="3555355"/>
            <a:ext cx="64294" cy="64294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3"/>
          <p:cNvSpPr/>
          <p:nvPr/>
        </p:nvSpPr>
        <p:spPr>
          <a:xfrm>
            <a:off x="6479381" y="3523208"/>
            <a:ext cx="212883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spc="38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数字化管理 · 一屏总览</a:t>
            </a:r>
            <a:endParaRPr lang="en-US" sz="759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9381" y="3766096"/>
            <a:ext cx="107156" cy="107156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6586538" y="3755380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</a:t>
            </a:r>
            <a:endParaRPr lang="en-US" sz="731" dirty="0"/>
          </a:p>
        </p:txBody>
      </p:sp>
      <p:sp>
        <p:nvSpPr>
          <p:cNvPr id="62" name="Text 45"/>
          <p:cNvSpPr/>
          <p:nvPr/>
        </p:nvSpPr>
        <p:spPr>
          <a:xfrm>
            <a:off x="6958013" y="3755380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图账一致</a:t>
            </a:r>
            <a:endParaRPr lang="en-US" sz="731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9381" y="3973264"/>
            <a:ext cx="107156" cy="107156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6586538" y="3962549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图上标注</a:t>
            </a:r>
            <a:endParaRPr lang="en-US" sz="731" dirty="0"/>
          </a:p>
        </p:txBody>
      </p:sp>
      <p:sp>
        <p:nvSpPr>
          <p:cNvPr id="65" name="Text 47"/>
          <p:cNvSpPr/>
          <p:nvPr/>
        </p:nvSpPr>
        <p:spPr>
          <a:xfrm>
            <a:off x="6958013" y="3962549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位置精准</a:t>
            </a:r>
            <a:endParaRPr lang="en-US" sz="731" dirty="0"/>
          </a:p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9381" y="4180433"/>
            <a:ext cx="107156" cy="107156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6586538" y="4169718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双人核签</a:t>
            </a:r>
            <a:endParaRPr lang="en-US" sz="731" dirty="0"/>
          </a:p>
        </p:txBody>
      </p:sp>
      <p:sp>
        <p:nvSpPr>
          <p:cNvPr id="68" name="Text 49"/>
          <p:cNvSpPr/>
          <p:nvPr/>
        </p:nvSpPr>
        <p:spPr>
          <a:xfrm>
            <a:off x="6958013" y="4169718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处置到位</a:t>
            </a:r>
            <a:endParaRPr lang="en-US" sz="731" dirty="0"/>
          </a:p>
        </p:txBody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9381" y="4387602"/>
            <a:ext cx="107156" cy="107156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6586538" y="4376886"/>
            <a:ext cx="5869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</a:t>
            </a:r>
            <a:endParaRPr lang="en-US" sz="731" dirty="0"/>
          </a:p>
        </p:txBody>
      </p:sp>
      <p:sp>
        <p:nvSpPr>
          <p:cNvPr id="71" name="Text 51"/>
          <p:cNvSpPr/>
          <p:nvPr/>
        </p:nvSpPr>
        <p:spPr>
          <a:xfrm>
            <a:off x="6958013" y="4376886"/>
            <a:ext cx="165020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一键追溯</a:t>
            </a:r>
            <a:endParaRPr lang="en-US" sz="73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8325" y="2878262"/>
            <a:ext cx="0" cy="328613"/>
          </a:xfrm>
          <a:prstGeom prst="line">
            <a:avLst/>
          </a:prstGeom>
          <a:noFill/>
          <a:ln w="14288">
            <a:solidFill>
              <a:srgbClr val="99F6E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818531" y="3199730"/>
            <a:ext cx="5506938" cy="0"/>
          </a:xfrm>
          <a:prstGeom prst="line">
            <a:avLst/>
          </a:prstGeom>
          <a:noFill/>
          <a:ln w="14288">
            <a:solidFill>
              <a:srgbClr val="99F6E4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825675" y="2878262"/>
            <a:ext cx="0" cy="328613"/>
          </a:xfrm>
          <a:prstGeom prst="line">
            <a:avLst/>
          </a:prstGeom>
          <a:noFill/>
          <a:ln w="14288">
            <a:solidFill>
              <a:srgbClr val="99F6E4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872319" y="314325"/>
            <a:ext cx="401402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方案总览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72319" y="457200"/>
            <a:ext cx="3106326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九环节作业，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全流程数字化闭环</a:t>
            </a:r>
            <a:endParaRPr lang="en-US" sz="1631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599" y="502853"/>
            <a:ext cx="3516399" cy="1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50056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07256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850106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" y="1935287"/>
            <a:ext cx="242888" cy="242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作业需求</a:t>
            </a:r>
            <a:endParaRPr lang="en-US" sz="956" dirty="0"/>
          </a:p>
        </p:txBody>
      </p:sp>
      <p:sp>
        <p:nvSpPr>
          <p:cNvPr id="17" name="Text 12"/>
          <p:cNvSpPr/>
          <p:nvPr/>
        </p:nvSpPr>
        <p:spPr>
          <a:xfrm>
            <a:off x="201168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需求登记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>
            <a:alphaModFix amt="0"/>
          </a:blip>
          <a:stretch>
            <a:fillRect/>
          </a:stretch>
        </p:blipFill>
        <p:spPr>
          <a:xfrm>
            <a:off x="1085850" y="2010296"/>
            <a:ext cx="171450" cy="500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85850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1407319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1864519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1807369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769" y="1935287"/>
            <a:ext cx="242888" cy="242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58431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现场勘察</a:t>
            </a:r>
            <a:endParaRPr lang="en-US" sz="956" dirty="0"/>
          </a:p>
        </p:txBody>
      </p:sp>
      <p:sp>
        <p:nvSpPr>
          <p:cNvPr id="25" name="Text 18"/>
          <p:cNvSpPr/>
          <p:nvPr/>
        </p:nvSpPr>
        <p:spPr>
          <a:xfrm>
            <a:off x="1158431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管线核实</a:t>
            </a:r>
            <a:endParaRPr lang="en-US" sz="7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>
            <a:alphaModFix amt="0"/>
          </a:blip>
          <a:stretch>
            <a:fillRect/>
          </a:stretch>
        </p:blipFill>
        <p:spPr>
          <a:xfrm>
            <a:off x="2043113" y="2010296"/>
            <a:ext cx="171450" cy="500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043113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2364581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2821781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2764631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6031" y="1935287"/>
            <a:ext cx="242888" cy="2428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218563" y="2449637"/>
            <a:ext cx="87782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JSA</a:t>
            </a:r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分析</a:t>
            </a:r>
            <a:endParaRPr lang="en-US" sz="956" dirty="0"/>
          </a:p>
        </p:txBody>
      </p:sp>
      <p:sp>
        <p:nvSpPr>
          <p:cNvPr id="33" name="Text 24"/>
          <p:cNvSpPr/>
          <p:nvPr/>
        </p:nvSpPr>
        <p:spPr>
          <a:xfrm>
            <a:off x="2218563" y="2642518"/>
            <a:ext cx="87782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作业危害分析</a:t>
            </a:r>
            <a:endParaRPr lang="en-US" sz="7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>
            <a:alphaModFix amt="0"/>
          </a:blip>
          <a:stretch>
            <a:fillRect/>
          </a:stretch>
        </p:blipFill>
        <p:spPr>
          <a:xfrm>
            <a:off x="3000375" y="2010296"/>
            <a:ext cx="171450" cy="5000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000375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3321844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7"/>
          <p:cNvSpPr/>
          <p:nvPr/>
        </p:nvSpPr>
        <p:spPr>
          <a:xfrm>
            <a:off x="3779044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3721894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294" y="1935287"/>
            <a:ext cx="242888" cy="2428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072956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隔离方案</a:t>
            </a:r>
            <a:endParaRPr lang="en-US" sz="956" dirty="0"/>
          </a:p>
        </p:txBody>
      </p:sp>
      <p:sp>
        <p:nvSpPr>
          <p:cNvPr id="41" name="Text 30"/>
          <p:cNvSpPr/>
          <p:nvPr/>
        </p:nvSpPr>
        <p:spPr>
          <a:xfrm>
            <a:off x="3072956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隔离点设计</a:t>
            </a:r>
            <a:endParaRPr lang="en-US" sz="7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>
            <a:alphaModFix amt="0"/>
          </a:blip>
          <a:stretch>
            <a:fillRect/>
          </a:stretch>
        </p:blipFill>
        <p:spPr>
          <a:xfrm>
            <a:off x="3957638" y="2010296"/>
            <a:ext cx="171450" cy="5000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957638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2"/>
          <p:cNvSpPr/>
          <p:nvPr/>
        </p:nvSpPr>
        <p:spPr>
          <a:xfrm>
            <a:off x="4279106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3"/>
          <p:cNvSpPr/>
          <p:nvPr/>
        </p:nvSpPr>
        <p:spPr>
          <a:xfrm>
            <a:off x="4736306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4679156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0556" y="1935287"/>
            <a:ext cx="242888" cy="2428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4030218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工艺处置</a:t>
            </a:r>
            <a:endParaRPr lang="en-US" sz="956" dirty="0"/>
          </a:p>
        </p:txBody>
      </p:sp>
      <p:sp>
        <p:nvSpPr>
          <p:cNvPr id="49" name="Text 36"/>
          <p:cNvSpPr/>
          <p:nvPr/>
        </p:nvSpPr>
        <p:spPr>
          <a:xfrm>
            <a:off x="4030218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吹扫置换</a:t>
            </a:r>
            <a:endParaRPr lang="en-US" sz="7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>
            <a:alphaModFix amt="0"/>
          </a:blip>
          <a:stretch>
            <a:fillRect/>
          </a:stretch>
        </p:blipFill>
        <p:spPr>
          <a:xfrm>
            <a:off x="4914900" y="2010296"/>
            <a:ext cx="171450" cy="50006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4914900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8"/>
          <p:cNvSpPr/>
          <p:nvPr/>
        </p:nvSpPr>
        <p:spPr>
          <a:xfrm>
            <a:off x="5236369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39"/>
          <p:cNvSpPr/>
          <p:nvPr/>
        </p:nvSpPr>
        <p:spPr>
          <a:xfrm>
            <a:off x="5693569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0"/>
          <p:cNvSpPr/>
          <p:nvPr/>
        </p:nvSpPr>
        <p:spPr>
          <a:xfrm>
            <a:off x="5636419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7819" y="1935287"/>
            <a:ext cx="242888" cy="24288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4987481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处置确认</a:t>
            </a:r>
            <a:endParaRPr lang="en-US" sz="956" dirty="0"/>
          </a:p>
        </p:txBody>
      </p:sp>
      <p:sp>
        <p:nvSpPr>
          <p:cNvPr id="57" name="Text 42"/>
          <p:cNvSpPr/>
          <p:nvPr/>
        </p:nvSpPr>
        <p:spPr>
          <a:xfrm>
            <a:off x="5090351" y="2642518"/>
            <a:ext cx="87782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能量隔离确认</a:t>
            </a:r>
            <a:endParaRPr lang="en-US" sz="7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>
            <a:alphaModFix amt="0"/>
          </a:blip>
          <a:stretch>
            <a:fillRect/>
          </a:stretch>
        </p:blipFill>
        <p:spPr>
          <a:xfrm>
            <a:off x="5872163" y="2010296"/>
            <a:ext cx="171450" cy="50006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5872163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4"/>
          <p:cNvSpPr/>
          <p:nvPr/>
        </p:nvSpPr>
        <p:spPr>
          <a:xfrm>
            <a:off x="6193631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5"/>
          <p:cNvSpPr/>
          <p:nvPr/>
        </p:nvSpPr>
        <p:spPr>
          <a:xfrm>
            <a:off x="6650831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46"/>
          <p:cNvSpPr/>
          <p:nvPr/>
        </p:nvSpPr>
        <p:spPr>
          <a:xfrm>
            <a:off x="6593681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5081" y="1935287"/>
            <a:ext cx="242888" cy="242888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5944743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作业票</a:t>
            </a:r>
            <a:endParaRPr lang="en-US" sz="956" dirty="0"/>
          </a:p>
        </p:txBody>
      </p:sp>
      <p:sp>
        <p:nvSpPr>
          <p:cNvPr id="65" name="Text 48"/>
          <p:cNvSpPr/>
          <p:nvPr/>
        </p:nvSpPr>
        <p:spPr>
          <a:xfrm>
            <a:off x="5944743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开票审批</a:t>
            </a:r>
            <a:endParaRPr lang="en-US" sz="700" dirty="0"/>
          </a:p>
        </p:txBody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>
            <a:alphaModFix amt="0"/>
          </a:blip>
          <a:stretch>
            <a:fillRect/>
          </a:stretch>
        </p:blipFill>
        <p:spPr>
          <a:xfrm>
            <a:off x="6829425" y="2010296"/>
            <a:ext cx="171450" cy="50006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6829425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50"/>
          <p:cNvSpPr/>
          <p:nvPr/>
        </p:nvSpPr>
        <p:spPr>
          <a:xfrm>
            <a:off x="7150894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1"/>
          <p:cNvSpPr/>
          <p:nvPr/>
        </p:nvSpPr>
        <p:spPr>
          <a:xfrm>
            <a:off x="7608094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52"/>
          <p:cNvSpPr/>
          <p:nvPr/>
        </p:nvSpPr>
        <p:spPr>
          <a:xfrm>
            <a:off x="7550944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pic>
        <p:nvPicPr>
          <p:cNvPr id="7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2344" y="1935287"/>
            <a:ext cx="242888" cy="242888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6902006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作业执行</a:t>
            </a:r>
            <a:endParaRPr lang="en-US" sz="956" dirty="0"/>
          </a:p>
        </p:txBody>
      </p:sp>
      <p:sp>
        <p:nvSpPr>
          <p:cNvPr id="73" name="Text 54"/>
          <p:cNvSpPr/>
          <p:nvPr/>
        </p:nvSpPr>
        <p:spPr>
          <a:xfrm>
            <a:off x="6902006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挂板抽堵</a:t>
            </a:r>
            <a:endParaRPr lang="en-US" sz="700" dirty="0"/>
          </a:p>
        </p:txBody>
      </p:sp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18">
            <a:alphaModFix amt="0"/>
          </a:blip>
          <a:stretch>
            <a:fillRect/>
          </a:stretch>
        </p:blipFill>
        <p:spPr>
          <a:xfrm>
            <a:off x="7786688" y="2010296"/>
            <a:ext cx="171450" cy="50006"/>
          </a:xfrm>
          <a:prstGeom prst="rect">
            <a:avLst/>
          </a:prstGeom>
        </p:spPr>
      </p:pic>
      <p:sp>
        <p:nvSpPr>
          <p:cNvPr id="75" name="Text 55"/>
          <p:cNvSpPr/>
          <p:nvPr/>
        </p:nvSpPr>
        <p:spPr>
          <a:xfrm>
            <a:off x="7786688" y="2010296"/>
            <a:ext cx="171450" cy="50006"/>
          </a:xfrm>
          <a:prstGeom prst="roundRect">
            <a:avLst>
              <a:gd name="adj" fmla="val 76191"/>
            </a:avLst>
          </a:prstGeom>
          <a:solidFill>
            <a:srgbClr val="5EEAD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56"/>
          <p:cNvSpPr/>
          <p:nvPr/>
        </p:nvSpPr>
        <p:spPr>
          <a:xfrm>
            <a:off x="8108156" y="1763837"/>
            <a:ext cx="585788" cy="585788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EEAD4"/>
            </a:solidFill>
            <a:prstDash val="solid"/>
          </a:ln>
          <a:effectLst>
            <a:outerShdw sx="100000" sy="100000" kx="0" ky="0" algn="bl" rotWithShape="0" blurRad="190500" dist="76200" dir="5400000">
              <a:srgbClr val="0D9488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57"/>
          <p:cNvSpPr/>
          <p:nvPr/>
        </p:nvSpPr>
        <p:spPr>
          <a:xfrm>
            <a:off x="8565356" y="1713830"/>
            <a:ext cx="178594" cy="17859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8575" dir="5400000">
              <a:srgbClr val="0D9488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58"/>
          <p:cNvSpPr/>
          <p:nvPr/>
        </p:nvSpPr>
        <p:spPr>
          <a:xfrm>
            <a:off x="8508206" y="1713830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800" dirty="0"/>
          </a:p>
        </p:txBody>
      </p:sp>
      <p:pic>
        <p:nvPicPr>
          <p:cNvPr id="7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79606" y="1935287"/>
            <a:ext cx="242888" cy="242888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859268" y="2449637"/>
            <a:ext cx="10835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作业验收</a:t>
            </a:r>
            <a:endParaRPr lang="en-US" sz="956" dirty="0"/>
          </a:p>
        </p:txBody>
      </p:sp>
      <p:sp>
        <p:nvSpPr>
          <p:cNvPr id="81" name="Text 60"/>
          <p:cNvSpPr/>
          <p:nvPr/>
        </p:nvSpPr>
        <p:spPr>
          <a:xfrm>
            <a:off x="7859268" y="2642518"/>
            <a:ext cx="1083564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恢复确认</a:t>
            </a:r>
            <a:endParaRPr lang="en-US" sz="700" dirty="0"/>
          </a:p>
        </p:txBody>
      </p:sp>
      <p:sp>
        <p:nvSpPr>
          <p:cNvPr id="82" name="Text 61"/>
          <p:cNvSpPr/>
          <p:nvPr/>
        </p:nvSpPr>
        <p:spPr>
          <a:xfrm>
            <a:off x="3713656" y="3080144"/>
            <a:ext cx="1716688" cy="232029"/>
          </a:xfrm>
          <a:prstGeom prst="roundRect">
            <a:avLst>
              <a:gd name="adj" fmla="val 4100985"/>
            </a:avLst>
          </a:prstGeom>
          <a:solidFill>
            <a:srgbClr val="FFFFFF"/>
          </a:solidFill>
          <a:ln w="7144">
            <a:solidFill>
              <a:srgbClr val="99F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D948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62"/>
          <p:cNvSpPr/>
          <p:nvPr/>
        </p:nvSpPr>
        <p:spPr>
          <a:xfrm>
            <a:off x="3736516" y="3092574"/>
            <a:ext cx="167096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3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状态机驱动 · 顺序流转 · 不可跳步</a:t>
            </a:r>
            <a:endParaRPr lang="en-US" sz="703" dirty="0"/>
          </a:p>
        </p:txBody>
      </p:sp>
      <p:sp>
        <p:nvSpPr>
          <p:cNvPr id="84" name="Text 63"/>
          <p:cNvSpPr/>
          <p:nvPr/>
        </p:nvSpPr>
        <p:spPr>
          <a:xfrm>
            <a:off x="403622" y="4104084"/>
            <a:ext cx="2295153" cy="750094"/>
          </a:xfrm>
          <a:prstGeom prst="roundRect">
            <a:avLst>
              <a:gd name="adj" fmla="val 2031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0069" y="4314825"/>
            <a:ext cx="328613" cy="328613"/>
          </a:xfrm>
          <a:prstGeom prst="rect">
            <a:avLst/>
          </a:prstGeom>
        </p:spPr>
      </p:pic>
      <p:pic>
        <p:nvPicPr>
          <p:cNvPr id="8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" y="4393406"/>
            <a:ext cx="171450" cy="171450"/>
          </a:xfrm>
          <a:prstGeom prst="rect">
            <a:avLst/>
          </a:prstGeom>
        </p:spPr>
      </p:pic>
      <p:sp>
        <p:nvSpPr>
          <p:cNvPr id="87" name="Text 64"/>
          <p:cNvSpPr/>
          <p:nvPr/>
        </p:nvSpPr>
        <p:spPr>
          <a:xfrm>
            <a:off x="984479" y="4350544"/>
            <a:ext cx="7697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pPr algn="l" indent="0" marL="0">
              <a:lnSpc>
                <a:spcPts val="2025"/>
              </a:lnSpc>
              <a:buNone/>
            </a:pPr>
            <a:r>
              <a:rPr lang="en-US" sz="788" b="1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2025" dirty="0"/>
          </a:p>
        </p:txBody>
      </p:sp>
      <p:sp>
        <p:nvSpPr>
          <p:cNvPr id="88" name="Text 65"/>
          <p:cNvSpPr/>
          <p:nvPr/>
        </p:nvSpPr>
        <p:spPr>
          <a:xfrm>
            <a:off x="1572406" y="4339828"/>
            <a:ext cx="97992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状态节点全流转</a:t>
            </a:r>
            <a:endParaRPr lang="en-US" sz="816" dirty="0"/>
          </a:p>
        </p:txBody>
      </p:sp>
      <p:sp>
        <p:nvSpPr>
          <p:cNvPr id="89" name="Text 66"/>
          <p:cNvSpPr/>
          <p:nvPr/>
        </p:nvSpPr>
        <p:spPr>
          <a:xfrm>
            <a:off x="1541082" y="4496991"/>
            <a:ext cx="1042570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状态机驱动 · 不可跳步</a:t>
            </a:r>
            <a:endParaRPr lang="en-US" sz="675" dirty="0"/>
          </a:p>
        </p:txBody>
      </p:sp>
      <p:sp>
        <p:nvSpPr>
          <p:cNvPr id="90" name="Text 67"/>
          <p:cNvSpPr/>
          <p:nvPr/>
        </p:nvSpPr>
        <p:spPr>
          <a:xfrm>
            <a:off x="2848794" y="4104084"/>
            <a:ext cx="2295153" cy="750094"/>
          </a:xfrm>
          <a:prstGeom prst="roundRect">
            <a:avLst>
              <a:gd name="adj" fmla="val 2031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95240" y="4314825"/>
            <a:ext cx="328613" cy="328613"/>
          </a:xfrm>
          <a:prstGeom prst="rect">
            <a:avLst/>
          </a:prstGeom>
        </p:spPr>
      </p:pic>
      <p:pic>
        <p:nvPicPr>
          <p:cNvPr id="9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73822" y="4393406"/>
            <a:ext cx="171450" cy="171450"/>
          </a:xfrm>
          <a:prstGeom prst="rect">
            <a:avLst/>
          </a:prstGeom>
        </p:spPr>
      </p:pic>
      <p:sp>
        <p:nvSpPr>
          <p:cNvPr id="93" name="Text 68"/>
          <p:cNvSpPr/>
          <p:nvPr/>
        </p:nvSpPr>
        <p:spPr>
          <a:xfrm>
            <a:off x="3431009" y="4221956"/>
            <a:ext cx="33207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2025"/>
              </a:lnSpc>
              <a:buNone/>
            </a:pPr>
            <a:r>
              <a:rPr lang="en-US" sz="788" b="1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</a:t>
            </a:r>
            <a:endParaRPr lang="en-US" sz="2025" dirty="0"/>
          </a:p>
        </p:txBody>
      </p:sp>
      <p:sp>
        <p:nvSpPr>
          <p:cNvPr id="94" name="Text 69"/>
          <p:cNvSpPr/>
          <p:nvPr/>
        </p:nvSpPr>
        <p:spPr>
          <a:xfrm>
            <a:off x="3816660" y="4279106"/>
            <a:ext cx="118084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角色在线协同</a:t>
            </a:r>
            <a:endParaRPr lang="en-US" sz="816" dirty="0"/>
          </a:p>
        </p:txBody>
      </p:sp>
      <p:sp>
        <p:nvSpPr>
          <p:cNvPr id="95" name="Text 70"/>
          <p:cNvSpPr/>
          <p:nvPr/>
        </p:nvSpPr>
        <p:spPr>
          <a:xfrm>
            <a:off x="3816660" y="4436269"/>
            <a:ext cx="1180840" cy="27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 · 审批 · 作业 · 验收各司其职</a:t>
            </a:r>
            <a:endParaRPr lang="en-US" sz="700" dirty="0"/>
          </a:p>
        </p:txBody>
      </p:sp>
      <p:sp>
        <p:nvSpPr>
          <p:cNvPr id="96" name="Text 71"/>
          <p:cNvSpPr/>
          <p:nvPr/>
        </p:nvSpPr>
        <p:spPr>
          <a:xfrm>
            <a:off x="5293965" y="4104084"/>
            <a:ext cx="3446301" cy="750094"/>
          </a:xfrm>
          <a:prstGeom prst="roundRect">
            <a:avLst>
              <a:gd name="adj" fmla="val 2031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40412" y="4314825"/>
            <a:ext cx="328613" cy="328613"/>
          </a:xfrm>
          <a:prstGeom prst="rect">
            <a:avLst/>
          </a:prstGeom>
        </p:spPr>
      </p:pic>
      <p:pic>
        <p:nvPicPr>
          <p:cNvPr id="9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18993" y="4393406"/>
            <a:ext cx="171450" cy="171450"/>
          </a:xfrm>
          <a:prstGeom prst="rect">
            <a:avLst/>
          </a:prstGeom>
        </p:spPr>
      </p:pic>
      <p:sp>
        <p:nvSpPr>
          <p:cNvPr id="99" name="Text 72"/>
          <p:cNvSpPr/>
          <p:nvPr/>
        </p:nvSpPr>
        <p:spPr>
          <a:xfrm>
            <a:off x="5876181" y="4223965"/>
            <a:ext cx="271763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编号体系全程可追溯</a:t>
            </a:r>
            <a:endParaRPr lang="en-US" sz="816" dirty="0"/>
          </a:p>
        </p:txBody>
      </p:sp>
      <p:sp>
        <p:nvSpPr>
          <p:cNvPr id="100" name="Text 73"/>
          <p:cNvSpPr/>
          <p:nvPr/>
        </p:nvSpPr>
        <p:spPr>
          <a:xfrm>
            <a:off x="5876181" y="4418333"/>
            <a:ext cx="365113" cy="328766"/>
          </a:xfrm>
          <a:prstGeom prst="roundRect">
            <a:avLst>
              <a:gd name="adj" fmla="val 23178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74"/>
          <p:cNvSpPr/>
          <p:nvPr/>
        </p:nvSpPr>
        <p:spPr>
          <a:xfrm>
            <a:off x="5947618" y="4594324"/>
            <a:ext cx="318678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700" dirty="0"/>
          </a:p>
        </p:txBody>
      </p:sp>
      <p:sp>
        <p:nvSpPr>
          <p:cNvPr id="102" name="Text 75"/>
          <p:cNvSpPr/>
          <p:nvPr/>
        </p:nvSpPr>
        <p:spPr>
          <a:xfrm>
            <a:off x="5937326" y="4459709"/>
            <a:ext cx="242822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WR-</a:t>
            </a:r>
            <a:endParaRPr lang="en-US" sz="816" dirty="0"/>
          </a:p>
        </p:txBody>
      </p:sp>
      <p:sp>
        <p:nvSpPr>
          <p:cNvPr id="103" name="Text 76"/>
          <p:cNvSpPr/>
          <p:nvPr/>
        </p:nvSpPr>
        <p:spPr>
          <a:xfrm>
            <a:off x="6291300" y="4418333"/>
            <a:ext cx="485775" cy="328766"/>
          </a:xfrm>
          <a:prstGeom prst="roundRect">
            <a:avLst>
              <a:gd name="adj" fmla="val 23178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77"/>
          <p:cNvSpPr/>
          <p:nvPr/>
        </p:nvSpPr>
        <p:spPr>
          <a:xfrm>
            <a:off x="6357046" y="4594324"/>
            <a:ext cx="450723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隔离方案</a:t>
            </a:r>
            <a:endParaRPr lang="en-US" sz="700" dirty="0"/>
          </a:p>
        </p:txBody>
      </p:sp>
      <p:sp>
        <p:nvSpPr>
          <p:cNvPr id="105" name="Text 78"/>
          <p:cNvSpPr/>
          <p:nvPr/>
        </p:nvSpPr>
        <p:spPr>
          <a:xfrm>
            <a:off x="6362737" y="4459709"/>
            <a:ext cx="34290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GL-</a:t>
            </a:r>
            <a:endParaRPr lang="en-US" sz="816" dirty="0"/>
          </a:p>
        </p:txBody>
      </p:sp>
      <p:sp>
        <p:nvSpPr>
          <p:cNvPr id="106" name="Text 79"/>
          <p:cNvSpPr/>
          <p:nvPr/>
        </p:nvSpPr>
        <p:spPr>
          <a:xfrm>
            <a:off x="6827081" y="4418333"/>
            <a:ext cx="485775" cy="328766"/>
          </a:xfrm>
          <a:prstGeom prst="roundRect">
            <a:avLst>
              <a:gd name="adj" fmla="val 23178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80"/>
          <p:cNvSpPr/>
          <p:nvPr/>
        </p:nvSpPr>
        <p:spPr>
          <a:xfrm>
            <a:off x="6892827" y="4594324"/>
            <a:ext cx="450723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处置方案</a:t>
            </a:r>
            <a:endParaRPr lang="en-US" sz="700" dirty="0"/>
          </a:p>
        </p:txBody>
      </p:sp>
      <p:sp>
        <p:nvSpPr>
          <p:cNvPr id="108" name="Text 81"/>
          <p:cNvSpPr/>
          <p:nvPr/>
        </p:nvSpPr>
        <p:spPr>
          <a:xfrm>
            <a:off x="6898518" y="4459709"/>
            <a:ext cx="34290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GY-</a:t>
            </a:r>
            <a:endParaRPr lang="en-US" sz="816" dirty="0"/>
          </a:p>
        </p:txBody>
      </p:sp>
      <p:sp>
        <p:nvSpPr>
          <p:cNvPr id="109" name="Text 82"/>
          <p:cNvSpPr/>
          <p:nvPr/>
        </p:nvSpPr>
        <p:spPr>
          <a:xfrm>
            <a:off x="7362862" y="4418333"/>
            <a:ext cx="400050" cy="328766"/>
          </a:xfrm>
          <a:prstGeom prst="roundRect">
            <a:avLst>
              <a:gd name="adj" fmla="val 23178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83"/>
          <p:cNvSpPr/>
          <p:nvPr/>
        </p:nvSpPr>
        <p:spPr>
          <a:xfrm>
            <a:off x="7434300" y="4594324"/>
            <a:ext cx="353616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作业票</a:t>
            </a:r>
            <a:endParaRPr lang="en-US" sz="700" dirty="0"/>
          </a:p>
        </p:txBody>
      </p:sp>
      <p:sp>
        <p:nvSpPr>
          <p:cNvPr id="111" name="Text 84"/>
          <p:cNvSpPr/>
          <p:nvPr/>
        </p:nvSpPr>
        <p:spPr>
          <a:xfrm>
            <a:off x="7434300" y="4459709"/>
            <a:ext cx="257175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BP-</a:t>
            </a:r>
            <a:endParaRPr lang="en-US" sz="816" dirty="0"/>
          </a:p>
        </p:txBody>
      </p:sp>
      <p:sp>
        <p:nvSpPr>
          <p:cNvPr id="112" name="Text 85"/>
          <p:cNvSpPr/>
          <p:nvPr/>
        </p:nvSpPr>
        <p:spPr>
          <a:xfrm>
            <a:off x="7812918" y="4418333"/>
            <a:ext cx="427286" cy="328766"/>
          </a:xfrm>
          <a:prstGeom prst="roundRect">
            <a:avLst>
              <a:gd name="adj" fmla="val 23178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86"/>
          <p:cNvSpPr/>
          <p:nvPr/>
        </p:nvSpPr>
        <p:spPr>
          <a:xfrm>
            <a:off x="7884356" y="4594324"/>
            <a:ext cx="709464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700" dirty="0"/>
          </a:p>
        </p:txBody>
      </p:sp>
      <p:sp>
        <p:nvSpPr>
          <p:cNvPr id="114" name="Text 87"/>
          <p:cNvSpPr/>
          <p:nvPr/>
        </p:nvSpPr>
        <p:spPr>
          <a:xfrm>
            <a:off x="7867259" y="4459709"/>
            <a:ext cx="318605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TSK-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872319" y="314325"/>
            <a:ext cx="315394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整体架构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72319" y="457200"/>
            <a:ext cx="2724325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五层架构，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端到端一体化</a:t>
            </a:r>
            <a:endParaRPr lang="en-US" sz="163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03" y="502853"/>
            <a:ext cx="4150296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77230"/>
            <a:ext cx="8343900" cy="6931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3622" y="880802"/>
            <a:ext cx="8336756" cy="686023"/>
          </a:xfrm>
          <a:prstGeom prst="roundRect">
            <a:avLst>
              <a:gd name="adj" fmla="val 22215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50069" y="1080939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1145232"/>
            <a:ext cx="15716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1108174"/>
            <a:ext cx="541782" cy="125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</a:t>
            </a:r>
            <a:endParaRPr lang="en-US" sz="872" dirty="0"/>
          </a:p>
        </p:txBody>
      </p:sp>
      <p:sp>
        <p:nvSpPr>
          <p:cNvPr id="14" name="Text 8"/>
          <p:cNvSpPr/>
          <p:nvPr/>
        </p:nvSpPr>
        <p:spPr>
          <a:xfrm>
            <a:off x="914400" y="1260872"/>
            <a:ext cx="54864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7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1664494" y="1083987"/>
            <a:ext cx="881583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1664494" y="1096789"/>
            <a:ext cx="917302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Web</a:t>
            </a:r>
            <a:endParaRPr lang="en-US" sz="731" dirty="0"/>
          </a:p>
        </p:txBody>
      </p:sp>
      <p:sp>
        <p:nvSpPr>
          <p:cNvPr id="17" name="Text 11"/>
          <p:cNvSpPr/>
          <p:nvPr/>
        </p:nvSpPr>
        <p:spPr>
          <a:xfrm>
            <a:off x="2617515" y="1083987"/>
            <a:ext cx="1057945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2617515" y="1096789"/>
            <a:ext cx="1093663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uniapp App</a:t>
            </a:r>
            <a:endParaRPr lang="en-US" sz="731" dirty="0"/>
          </a:p>
        </p:txBody>
      </p:sp>
      <p:sp>
        <p:nvSpPr>
          <p:cNvPr id="19" name="Text 13"/>
          <p:cNvSpPr/>
          <p:nvPr/>
        </p:nvSpPr>
        <p:spPr>
          <a:xfrm>
            <a:off x="3746897" y="1083987"/>
            <a:ext cx="621506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822228" y="1168226"/>
            <a:ext cx="470845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大屏看板</a:t>
            </a:r>
            <a:endParaRPr lang="en-US" sz="731" dirty="0"/>
          </a:p>
        </p:txBody>
      </p:sp>
      <p:sp>
        <p:nvSpPr>
          <p:cNvPr id="21" name="Text 15"/>
          <p:cNvSpPr/>
          <p:nvPr/>
        </p:nvSpPr>
        <p:spPr>
          <a:xfrm>
            <a:off x="8175679" y="1098798"/>
            <a:ext cx="38859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9488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688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50" y="1577541"/>
            <a:ext cx="114300" cy="11430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698985"/>
            <a:ext cx="8343900" cy="69327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3622" y="1702557"/>
            <a:ext cx="8336756" cy="686135"/>
          </a:xfrm>
          <a:prstGeom prst="roundRect">
            <a:avLst>
              <a:gd name="adj" fmla="val 22211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50069" y="1902693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1966987"/>
            <a:ext cx="157163" cy="1571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4400" y="1929929"/>
            <a:ext cx="1039121" cy="125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872" dirty="0"/>
          </a:p>
        </p:txBody>
      </p:sp>
      <p:sp>
        <p:nvSpPr>
          <p:cNvPr id="28" name="Text 19"/>
          <p:cNvSpPr/>
          <p:nvPr/>
        </p:nvSpPr>
        <p:spPr>
          <a:xfrm>
            <a:off x="914400" y="2082626"/>
            <a:ext cx="83553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spc="7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PRESENTATION</a:t>
            </a:r>
            <a:endParaRPr lang="en-US" sz="600" dirty="0"/>
          </a:p>
        </p:txBody>
      </p:sp>
      <p:sp>
        <p:nvSpPr>
          <p:cNvPr id="29" name="Text 20"/>
          <p:cNvSpPr/>
          <p:nvPr/>
        </p:nvSpPr>
        <p:spPr>
          <a:xfrm>
            <a:off x="1664494" y="1905853"/>
            <a:ext cx="951570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1"/>
          <p:cNvSpPr/>
          <p:nvPr/>
        </p:nvSpPr>
        <p:spPr>
          <a:xfrm>
            <a:off x="1664494" y="1918655"/>
            <a:ext cx="98728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2687501" y="1905853"/>
            <a:ext cx="811374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2753660" y="1990092"/>
            <a:ext cx="679056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大功能模块</a:t>
            </a:r>
            <a:endParaRPr lang="en-US" sz="731" dirty="0"/>
          </a:p>
        </p:txBody>
      </p:sp>
      <p:sp>
        <p:nvSpPr>
          <p:cNvPr id="33" name="Text 24"/>
          <p:cNvSpPr/>
          <p:nvPr/>
        </p:nvSpPr>
        <p:spPr>
          <a:xfrm>
            <a:off x="3570312" y="1905853"/>
            <a:ext cx="833586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3634427" y="1990092"/>
            <a:ext cx="705357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组态画布</a:t>
            </a:r>
            <a:endParaRPr lang="en-US" sz="731" dirty="0"/>
          </a:p>
        </p:txBody>
      </p:sp>
      <p:sp>
        <p:nvSpPr>
          <p:cNvPr id="35" name="Text 26"/>
          <p:cNvSpPr/>
          <p:nvPr/>
        </p:nvSpPr>
        <p:spPr>
          <a:xfrm>
            <a:off x="4475336" y="1905853"/>
            <a:ext cx="992535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4475336" y="1918655"/>
            <a:ext cx="380427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Recharts</a:t>
            </a:r>
            <a:pPr algn="l" indent="0" marL="0">
              <a:lnSpc>
                <a:spcPts val="1080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731" dirty="0"/>
          </a:p>
        </p:txBody>
      </p:sp>
      <p:sp>
        <p:nvSpPr>
          <p:cNvPr id="37" name="Text 28"/>
          <p:cNvSpPr/>
          <p:nvPr/>
        </p:nvSpPr>
        <p:spPr>
          <a:xfrm>
            <a:off x="8175679" y="1920553"/>
            <a:ext cx="38859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9488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88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4850" y="2399407"/>
            <a:ext cx="114300" cy="114300"/>
          </a:xfrm>
          <a:prstGeom prst="rect">
            <a:avLst/>
          </a:prstGeom>
        </p:spPr>
      </p:pic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2520851"/>
            <a:ext cx="8343900" cy="69316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403622" y="2524423"/>
            <a:ext cx="8336756" cy="686023"/>
          </a:xfrm>
          <a:prstGeom prst="roundRect">
            <a:avLst>
              <a:gd name="adj" fmla="val 22215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0"/>
          <p:cNvSpPr/>
          <p:nvPr/>
        </p:nvSpPr>
        <p:spPr>
          <a:xfrm>
            <a:off x="550069" y="2724559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3" y="2788853"/>
            <a:ext cx="157163" cy="157163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14400" y="2751795"/>
            <a:ext cx="902970" cy="125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</a:t>
            </a:r>
            <a:endParaRPr lang="en-US" sz="872" dirty="0"/>
          </a:p>
        </p:txBody>
      </p:sp>
      <p:sp>
        <p:nvSpPr>
          <p:cNvPr id="44" name="Text 32"/>
          <p:cNvSpPr/>
          <p:nvPr/>
        </p:nvSpPr>
        <p:spPr>
          <a:xfrm>
            <a:off x="914400" y="2904492"/>
            <a:ext cx="787777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7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1668066" y="2743981"/>
            <a:ext cx="3736963" cy="246794"/>
          </a:xfrm>
          <a:prstGeom prst="roundRect">
            <a:avLst>
              <a:gd name="adj" fmla="val 38595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1664494" y="2740409"/>
            <a:ext cx="3779825" cy="274253"/>
          </a:xfrm>
          <a:prstGeom prst="rect">
            <a:avLst/>
          </a:prstGeom>
          <a:noFill/>
          <a:ln/>
        </p:spPr>
        <p:txBody>
          <a:bodyPr wrap="square" lIns="92869" tIns="57150" rIns="92869" bIns="5715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业务流程服务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/ 勘察 / 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JSA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方案 / 作业票 / 任务 / 验收</a:t>
            </a:r>
            <a:endParaRPr lang="en-US" sz="731" dirty="0"/>
          </a:p>
        </p:txBody>
      </p:sp>
      <p:sp>
        <p:nvSpPr>
          <p:cNvPr id="47" name="Text 35"/>
          <p:cNvSpPr/>
          <p:nvPr/>
        </p:nvSpPr>
        <p:spPr>
          <a:xfrm>
            <a:off x="5480038" y="2727608"/>
            <a:ext cx="807244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6"/>
          <p:cNvSpPr/>
          <p:nvPr/>
        </p:nvSpPr>
        <p:spPr>
          <a:xfrm>
            <a:off x="5538652" y="2811847"/>
            <a:ext cx="690015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盲板台账服务</a:t>
            </a:r>
            <a:endParaRPr lang="en-US" sz="731" dirty="0"/>
          </a:p>
        </p:txBody>
      </p:sp>
      <p:sp>
        <p:nvSpPr>
          <p:cNvPr id="49" name="Text 37"/>
          <p:cNvSpPr/>
          <p:nvPr/>
        </p:nvSpPr>
        <p:spPr>
          <a:xfrm>
            <a:off x="6358719" y="2727608"/>
            <a:ext cx="807244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6417333" y="2811847"/>
            <a:ext cx="690015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统计分析服务</a:t>
            </a:r>
            <a:endParaRPr lang="en-US" sz="731" dirty="0"/>
          </a:p>
        </p:txBody>
      </p:sp>
      <p:sp>
        <p:nvSpPr>
          <p:cNvPr id="51" name="Text 39"/>
          <p:cNvSpPr/>
          <p:nvPr/>
        </p:nvSpPr>
        <p:spPr>
          <a:xfrm>
            <a:off x="7237400" y="2727608"/>
            <a:ext cx="1042206" cy="279541"/>
          </a:xfrm>
          <a:prstGeom prst="roundRect">
            <a:avLst>
              <a:gd name="adj" fmla="val 34074"/>
            </a:avLst>
          </a:prstGeom>
          <a:solidFill>
            <a:srgbClr val="F5F3FF"/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0"/>
          <p:cNvSpPr/>
          <p:nvPr/>
        </p:nvSpPr>
        <p:spPr>
          <a:xfrm>
            <a:off x="7237400" y="2740409"/>
            <a:ext cx="1042206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服务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· VLM</a:t>
            </a:r>
            <a:endParaRPr lang="en-US" sz="731" dirty="0"/>
          </a:p>
        </p:txBody>
      </p:sp>
      <p:sp>
        <p:nvSpPr>
          <p:cNvPr id="53" name="Text 41"/>
          <p:cNvSpPr/>
          <p:nvPr/>
        </p:nvSpPr>
        <p:spPr>
          <a:xfrm>
            <a:off x="8175679" y="2742419"/>
            <a:ext cx="38859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9488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688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4850" y="3221162"/>
            <a:ext cx="114300" cy="114300"/>
          </a:xfrm>
          <a:prstGeom prst="rect">
            <a:avLst/>
          </a:prstGeom>
        </p:spPr>
      </p:pic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0050" y="3342605"/>
            <a:ext cx="8343900" cy="693279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403622" y="3346177"/>
            <a:ext cx="8336756" cy="686135"/>
          </a:xfrm>
          <a:prstGeom prst="roundRect">
            <a:avLst>
              <a:gd name="adj" fmla="val 22211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3"/>
          <p:cNvSpPr/>
          <p:nvPr/>
        </p:nvSpPr>
        <p:spPr>
          <a:xfrm>
            <a:off x="550069" y="3546314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787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363" y="3610608"/>
            <a:ext cx="157163" cy="157163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914400" y="3573549"/>
            <a:ext cx="541782" cy="125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872" dirty="0"/>
          </a:p>
        </p:txBody>
      </p:sp>
      <p:sp>
        <p:nvSpPr>
          <p:cNvPr id="60" name="Text 45"/>
          <p:cNvSpPr/>
          <p:nvPr/>
        </p:nvSpPr>
        <p:spPr>
          <a:xfrm>
            <a:off x="914400" y="3726247"/>
            <a:ext cx="54864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7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61" name="Text 46"/>
          <p:cNvSpPr/>
          <p:nvPr/>
        </p:nvSpPr>
        <p:spPr>
          <a:xfrm>
            <a:off x="1664494" y="3549474"/>
            <a:ext cx="1612255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47"/>
          <p:cNvSpPr/>
          <p:nvPr/>
        </p:nvSpPr>
        <p:spPr>
          <a:xfrm>
            <a:off x="1664494" y="3562276"/>
            <a:ext cx="164797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MySQL / SQLite</a:t>
            </a:r>
            <a:pPr algn="l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ORM</a:t>
            </a:r>
            <a:endParaRPr lang="en-US" sz="800" dirty="0"/>
          </a:p>
        </p:txBody>
      </p:sp>
      <p:sp>
        <p:nvSpPr>
          <p:cNvPr id="63" name="Text 48"/>
          <p:cNvSpPr/>
          <p:nvPr/>
        </p:nvSpPr>
        <p:spPr>
          <a:xfrm>
            <a:off x="3348186" y="3549474"/>
            <a:ext cx="783134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49"/>
          <p:cNvSpPr/>
          <p:nvPr/>
        </p:nvSpPr>
        <p:spPr>
          <a:xfrm>
            <a:off x="3421046" y="3633713"/>
            <a:ext cx="637414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张业务表</a:t>
            </a:r>
            <a:endParaRPr lang="en-US" sz="731" dirty="0"/>
          </a:p>
        </p:txBody>
      </p:sp>
      <p:sp>
        <p:nvSpPr>
          <p:cNvPr id="65" name="Text 50"/>
          <p:cNvSpPr/>
          <p:nvPr/>
        </p:nvSpPr>
        <p:spPr>
          <a:xfrm>
            <a:off x="4202757" y="3549474"/>
            <a:ext cx="900113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1"/>
          <p:cNvSpPr/>
          <p:nvPr/>
        </p:nvSpPr>
        <p:spPr>
          <a:xfrm>
            <a:off x="4202757" y="3562276"/>
            <a:ext cx="4076849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文件与图片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731" dirty="0"/>
          </a:p>
        </p:txBody>
      </p:sp>
      <p:sp>
        <p:nvSpPr>
          <p:cNvPr id="67" name="Text 52"/>
          <p:cNvSpPr/>
          <p:nvPr/>
        </p:nvSpPr>
        <p:spPr>
          <a:xfrm>
            <a:off x="8175679" y="3564173"/>
            <a:ext cx="38859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9488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688" dirty="0"/>
          </a:p>
        </p:txBody>
      </p:sp>
      <p:pic>
        <p:nvPicPr>
          <p:cNvPr id="6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4850" y="4043028"/>
            <a:ext cx="114300" cy="114300"/>
          </a:xfrm>
          <a:prstGeom prst="rect">
            <a:avLst/>
          </a:prstGeom>
        </p:spPr>
      </p:pic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050" y="4164471"/>
            <a:ext cx="8343900" cy="693279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403622" y="4168043"/>
            <a:ext cx="8336756" cy="686135"/>
          </a:xfrm>
          <a:prstGeom prst="roundRect">
            <a:avLst>
              <a:gd name="adj" fmla="val 22211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54"/>
          <p:cNvSpPr/>
          <p:nvPr/>
        </p:nvSpPr>
        <p:spPr>
          <a:xfrm>
            <a:off x="550069" y="4368180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63" y="4432474"/>
            <a:ext cx="157163" cy="157163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914400" y="4395415"/>
            <a:ext cx="722376" cy="125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872" dirty="0"/>
          </a:p>
        </p:txBody>
      </p:sp>
      <p:sp>
        <p:nvSpPr>
          <p:cNvPr id="74" name="Text 56"/>
          <p:cNvSpPr/>
          <p:nvPr/>
        </p:nvSpPr>
        <p:spPr>
          <a:xfrm>
            <a:off x="914400" y="4548113"/>
            <a:ext cx="7315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7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</a:t>
            </a:r>
            <a:endParaRPr lang="en-US" sz="800" dirty="0"/>
          </a:p>
        </p:txBody>
      </p:sp>
      <p:sp>
        <p:nvSpPr>
          <p:cNvPr id="75" name="Text 57"/>
          <p:cNvSpPr/>
          <p:nvPr/>
        </p:nvSpPr>
        <p:spPr>
          <a:xfrm>
            <a:off x="1664494" y="4371340"/>
            <a:ext cx="621506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58"/>
          <p:cNvSpPr/>
          <p:nvPr/>
        </p:nvSpPr>
        <p:spPr>
          <a:xfrm>
            <a:off x="1739825" y="4455579"/>
            <a:ext cx="470845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内网部署</a:t>
            </a:r>
            <a:endParaRPr lang="en-US" sz="731" dirty="0"/>
          </a:p>
        </p:txBody>
      </p:sp>
      <p:sp>
        <p:nvSpPr>
          <p:cNvPr id="77" name="Text 59"/>
          <p:cNvSpPr/>
          <p:nvPr/>
        </p:nvSpPr>
        <p:spPr>
          <a:xfrm>
            <a:off x="2361009" y="4387714"/>
            <a:ext cx="2314910" cy="246794"/>
          </a:xfrm>
          <a:prstGeom prst="roundRect">
            <a:avLst>
              <a:gd name="adj" fmla="val 38595"/>
            </a:avLst>
          </a:prstGeom>
          <a:solidFill>
            <a:srgbClr val="F5F3FF"/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60"/>
          <p:cNvSpPr/>
          <p:nvPr/>
        </p:nvSpPr>
        <p:spPr>
          <a:xfrm>
            <a:off x="2357438" y="4384142"/>
            <a:ext cx="2357772" cy="274253"/>
          </a:xfrm>
          <a:prstGeom prst="rect">
            <a:avLst/>
          </a:prstGeom>
          <a:noFill/>
          <a:ln/>
        </p:spPr>
        <p:txBody>
          <a:bodyPr wrap="square" lIns="92869" tIns="57150" rIns="92869" bIns="5715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私有化大模型网关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vLLM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SGLang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OpenAI</a:t>
            </a:r>
            <a:pPr algn="l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兼容</a:t>
            </a:r>
            <a:endParaRPr lang="en-US" sz="731" dirty="0"/>
          </a:p>
        </p:txBody>
      </p:sp>
      <p:sp>
        <p:nvSpPr>
          <p:cNvPr id="79" name="Text 61"/>
          <p:cNvSpPr/>
          <p:nvPr/>
        </p:nvSpPr>
        <p:spPr>
          <a:xfrm>
            <a:off x="4750929" y="4371340"/>
            <a:ext cx="714375" cy="279541"/>
          </a:xfrm>
          <a:prstGeom prst="roundRect">
            <a:avLst>
              <a:gd name="adj" fmla="val 3407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62"/>
          <p:cNvSpPr/>
          <p:nvPr/>
        </p:nvSpPr>
        <p:spPr>
          <a:xfrm>
            <a:off x="4817901" y="4455579"/>
            <a:ext cx="580430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31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备份与安全</a:t>
            </a:r>
            <a:endParaRPr lang="en-US" sz="731" dirty="0"/>
          </a:p>
        </p:txBody>
      </p:sp>
      <p:sp>
        <p:nvSpPr>
          <p:cNvPr id="81" name="Text 63"/>
          <p:cNvSpPr/>
          <p:nvPr/>
        </p:nvSpPr>
        <p:spPr>
          <a:xfrm>
            <a:off x="8175679" y="4386039"/>
            <a:ext cx="38859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9488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6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7843" y="3950494"/>
            <a:ext cx="0" cy="271463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537692" y="4493419"/>
            <a:ext cx="0" cy="271463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872319" y="314325"/>
            <a:ext cx="393163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功能架构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72319" y="457200"/>
            <a:ext cx="3042568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大模块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移动端 + 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能力</a:t>
            </a:r>
            <a:endParaRPr lang="en-US" sz="1631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877" y="502853"/>
            <a:ext cx="3577121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03622" y="866515"/>
            <a:ext cx="1993106" cy="1382985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186979"/>
            <a:ext cx="300038" cy="300038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03" y="1254844"/>
            <a:ext cx="164306" cy="1643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96953" y="1236985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28638" y="1551310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首页看板</a:t>
            </a:r>
            <a:endParaRPr lang="en-US" sz="928" dirty="0"/>
          </a:p>
        </p:txBody>
      </p:sp>
      <p:sp>
        <p:nvSpPr>
          <p:cNvPr id="16" name="Text 10"/>
          <p:cNvSpPr/>
          <p:nvPr/>
        </p:nvSpPr>
        <p:spPr>
          <a:xfrm>
            <a:off x="528638" y="1772766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总览 · 趋势图表 · 待办提醒</a:t>
            </a:r>
            <a:endParaRPr lang="en-US" sz="703" dirty="0"/>
          </a:p>
        </p:txBody>
      </p:sp>
      <p:sp>
        <p:nvSpPr>
          <p:cNvPr id="17" name="Text 11"/>
          <p:cNvSpPr/>
          <p:nvPr/>
        </p:nvSpPr>
        <p:spPr>
          <a:xfrm>
            <a:off x="2518172" y="866515"/>
            <a:ext cx="1993106" cy="1382985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188" y="1186979"/>
            <a:ext cx="300038" cy="300038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053" y="1254844"/>
            <a:ext cx="164306" cy="16430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111503" y="1236985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2643188" y="1551310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作业需求</a:t>
            </a:r>
            <a:endParaRPr lang="en-US" sz="928" dirty="0"/>
          </a:p>
        </p:txBody>
      </p:sp>
      <p:sp>
        <p:nvSpPr>
          <p:cNvPr id="22" name="Text 14"/>
          <p:cNvSpPr/>
          <p:nvPr/>
        </p:nvSpPr>
        <p:spPr>
          <a:xfrm>
            <a:off x="2643188" y="1772766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需求登记 · 提交 · 状态流转</a:t>
            </a:r>
            <a:endParaRPr lang="en-US" sz="703" dirty="0"/>
          </a:p>
        </p:txBody>
      </p:sp>
      <p:sp>
        <p:nvSpPr>
          <p:cNvPr id="23" name="Text 15"/>
          <p:cNvSpPr/>
          <p:nvPr/>
        </p:nvSpPr>
        <p:spPr>
          <a:xfrm>
            <a:off x="4632722" y="866515"/>
            <a:ext cx="1993106" cy="1382985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738" y="1186979"/>
            <a:ext cx="300038" cy="300038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5603" y="1254844"/>
            <a:ext cx="164306" cy="16430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226053" y="1236985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4757738" y="1551310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现场勘察与 </a:t>
            </a:r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JSA</a:t>
            </a:r>
            <a:endParaRPr lang="en-US" sz="928" dirty="0"/>
          </a:p>
        </p:txBody>
      </p:sp>
      <p:sp>
        <p:nvSpPr>
          <p:cNvPr id="28" name="Text 18"/>
          <p:cNvSpPr/>
          <p:nvPr/>
        </p:nvSpPr>
        <p:spPr>
          <a:xfrm>
            <a:off x="4757738" y="1772766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勘察记录 · 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JSA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步骤分析</a:t>
            </a:r>
            <a:endParaRPr lang="en-US" sz="703" dirty="0"/>
          </a:p>
        </p:txBody>
      </p:sp>
      <p:sp>
        <p:nvSpPr>
          <p:cNvPr id="29" name="Text 19"/>
          <p:cNvSpPr/>
          <p:nvPr/>
        </p:nvSpPr>
        <p:spPr>
          <a:xfrm>
            <a:off x="6747272" y="866515"/>
            <a:ext cx="1993106" cy="1382985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2288" y="1186979"/>
            <a:ext cx="300038" cy="300038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0153" y="1254844"/>
            <a:ext cx="164306" cy="16430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340603" y="1236985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" dirty="0"/>
          </a:p>
        </p:txBody>
      </p:sp>
      <p:sp>
        <p:nvSpPr>
          <p:cNvPr id="33" name="Text 21"/>
          <p:cNvSpPr/>
          <p:nvPr/>
        </p:nvSpPr>
        <p:spPr>
          <a:xfrm>
            <a:off x="6872288" y="1551310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方案管理</a:t>
            </a:r>
            <a:endParaRPr lang="en-US" sz="928" dirty="0"/>
          </a:p>
        </p:txBody>
      </p:sp>
      <p:sp>
        <p:nvSpPr>
          <p:cNvPr id="34" name="Text 22"/>
          <p:cNvSpPr/>
          <p:nvPr/>
        </p:nvSpPr>
        <p:spPr>
          <a:xfrm>
            <a:off x="6872288" y="1772766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隔离方案 · 工艺处置方案 · 两级审核</a:t>
            </a:r>
            <a:endParaRPr lang="en-US" sz="703" dirty="0"/>
          </a:p>
        </p:txBody>
      </p:sp>
      <p:sp>
        <p:nvSpPr>
          <p:cNvPr id="35" name="Text 23"/>
          <p:cNvSpPr/>
          <p:nvPr/>
        </p:nvSpPr>
        <p:spPr>
          <a:xfrm>
            <a:off x="403622" y="2370944"/>
            <a:ext cx="1993106" cy="1383097"/>
          </a:xfrm>
          <a:prstGeom prst="roundRect">
            <a:avLst>
              <a:gd name="adj" fmla="val 1239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638" y="2691408"/>
            <a:ext cx="300038" cy="300038"/>
          </a:xfrm>
          <a:prstGeom prst="rect">
            <a:avLst/>
          </a:prstGeom>
        </p:spPr>
      </p:pic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503" y="2759273"/>
            <a:ext cx="164306" cy="164306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1996953" y="2741414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Text 25"/>
          <p:cNvSpPr/>
          <p:nvPr/>
        </p:nvSpPr>
        <p:spPr>
          <a:xfrm>
            <a:off x="528638" y="3055739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作业任务</a:t>
            </a:r>
            <a:endParaRPr lang="en-US" sz="928" dirty="0"/>
          </a:p>
        </p:txBody>
      </p:sp>
      <p:sp>
        <p:nvSpPr>
          <p:cNvPr id="40" name="Text 26"/>
          <p:cNvSpPr/>
          <p:nvPr/>
        </p:nvSpPr>
        <p:spPr>
          <a:xfrm>
            <a:off x="528638" y="3277195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开票 · 签发审批 · 执行跟踪 · 验收</a:t>
            </a:r>
            <a:endParaRPr lang="en-US" sz="703" dirty="0"/>
          </a:p>
        </p:txBody>
      </p:sp>
      <p:sp>
        <p:nvSpPr>
          <p:cNvPr id="41" name="Text 27"/>
          <p:cNvSpPr/>
          <p:nvPr/>
        </p:nvSpPr>
        <p:spPr>
          <a:xfrm>
            <a:off x="2518172" y="2370944"/>
            <a:ext cx="1993106" cy="1383097"/>
          </a:xfrm>
          <a:prstGeom prst="roundRect">
            <a:avLst>
              <a:gd name="adj" fmla="val 1239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3188" y="2691408"/>
            <a:ext cx="300038" cy="300038"/>
          </a:xfrm>
          <a:prstGeom prst="rect">
            <a:avLst/>
          </a:prstGeom>
        </p:spPr>
      </p:pic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11053" y="2759273"/>
            <a:ext cx="164306" cy="164306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4111503" y="2741414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350" dirty="0"/>
          </a:p>
        </p:txBody>
      </p:sp>
      <p:sp>
        <p:nvSpPr>
          <p:cNvPr id="45" name="Text 29"/>
          <p:cNvSpPr/>
          <p:nvPr/>
        </p:nvSpPr>
        <p:spPr>
          <a:xfrm>
            <a:off x="2643188" y="3055739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盲板台账</a:t>
            </a:r>
            <a:endParaRPr lang="en-US" sz="928" dirty="0"/>
          </a:p>
        </p:txBody>
      </p:sp>
      <p:sp>
        <p:nvSpPr>
          <p:cNvPr id="46" name="Text 30"/>
          <p:cNvSpPr/>
          <p:nvPr/>
        </p:nvSpPr>
        <p:spPr>
          <a:xfrm>
            <a:off x="2643188" y="3277195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盲板档案 · 变动记录 · 库存预警</a:t>
            </a:r>
            <a:endParaRPr lang="en-US" sz="703" dirty="0"/>
          </a:p>
        </p:txBody>
      </p:sp>
      <p:sp>
        <p:nvSpPr>
          <p:cNvPr id="47" name="Text 31"/>
          <p:cNvSpPr/>
          <p:nvPr/>
        </p:nvSpPr>
        <p:spPr>
          <a:xfrm>
            <a:off x="4632722" y="2370944"/>
            <a:ext cx="1993106" cy="1383097"/>
          </a:xfrm>
          <a:prstGeom prst="roundRect">
            <a:avLst>
              <a:gd name="adj" fmla="val 1239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7738" y="2691408"/>
            <a:ext cx="300038" cy="300038"/>
          </a:xfrm>
          <a:prstGeom prst="rect">
            <a:avLst/>
          </a:prstGeom>
        </p:spPr>
      </p:pic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5603" y="2759273"/>
            <a:ext cx="164306" cy="164306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6226053" y="2741414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350" dirty="0"/>
          </a:p>
        </p:txBody>
      </p:sp>
      <p:sp>
        <p:nvSpPr>
          <p:cNvPr id="51" name="Text 33"/>
          <p:cNvSpPr/>
          <p:nvPr/>
        </p:nvSpPr>
        <p:spPr>
          <a:xfrm>
            <a:off x="4757738" y="3055739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组态</a:t>
            </a:r>
            <a:endParaRPr lang="en-US" sz="928" dirty="0"/>
          </a:p>
        </p:txBody>
      </p:sp>
      <p:sp>
        <p:nvSpPr>
          <p:cNvPr id="52" name="Text 34"/>
          <p:cNvSpPr/>
          <p:nvPr/>
        </p:nvSpPr>
        <p:spPr>
          <a:xfrm>
            <a:off x="4757738" y="3277195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图元库 · 画布编辑 · 主数据生成</a:t>
            </a:r>
            <a:endParaRPr lang="en-US" sz="703" dirty="0"/>
          </a:p>
        </p:txBody>
      </p:sp>
      <p:sp>
        <p:nvSpPr>
          <p:cNvPr id="53" name="Text 35"/>
          <p:cNvSpPr/>
          <p:nvPr/>
        </p:nvSpPr>
        <p:spPr>
          <a:xfrm>
            <a:off x="6747272" y="2370944"/>
            <a:ext cx="1993106" cy="1383097"/>
          </a:xfrm>
          <a:prstGeom prst="roundRect">
            <a:avLst>
              <a:gd name="adj" fmla="val 1239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52400" dist="47625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72288" y="2691408"/>
            <a:ext cx="300038" cy="300038"/>
          </a:xfrm>
          <a:prstGeom prst="rect">
            <a:avLst/>
          </a:prstGeom>
        </p:spPr>
      </p:pic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0153" y="2759273"/>
            <a:ext cx="164306" cy="164306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8340603" y="2741414"/>
            <a:ext cx="31087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E5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350" dirty="0"/>
          </a:p>
        </p:txBody>
      </p:sp>
      <p:sp>
        <p:nvSpPr>
          <p:cNvPr id="57" name="Text 37"/>
          <p:cNvSpPr/>
          <p:nvPr/>
        </p:nvSpPr>
        <p:spPr>
          <a:xfrm>
            <a:off x="6872288" y="3055739"/>
            <a:ext cx="174307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928" dirty="0"/>
          </a:p>
        </p:txBody>
      </p:sp>
      <p:sp>
        <p:nvSpPr>
          <p:cNvPr id="58" name="Text 38"/>
          <p:cNvSpPr/>
          <p:nvPr/>
        </p:nvSpPr>
        <p:spPr>
          <a:xfrm>
            <a:off x="6872288" y="3277195"/>
            <a:ext cx="174307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状态分布 · 月度趋势 · 装置排名</a:t>
            </a:r>
            <a:endParaRPr lang="en-US" sz="703" dirty="0"/>
          </a:p>
        </p:txBody>
      </p:sp>
      <p:sp>
        <p:nvSpPr>
          <p:cNvPr id="59" name="Text 39"/>
          <p:cNvSpPr/>
          <p:nvPr/>
        </p:nvSpPr>
        <p:spPr>
          <a:xfrm>
            <a:off x="403622" y="3861197"/>
            <a:ext cx="8336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781" y="3950494"/>
            <a:ext cx="271463" cy="271463"/>
          </a:xfrm>
          <a:prstGeom prst="rect">
            <a:avLst/>
          </a:prstGeom>
        </p:spPr>
      </p:pic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2931" y="4007644"/>
            <a:ext cx="157163" cy="157163"/>
          </a:xfrm>
          <a:prstGeom prst="rect">
            <a:avLst/>
          </a:prstGeom>
        </p:spPr>
      </p:pic>
      <p:sp>
        <p:nvSpPr>
          <p:cNvPr id="62" name="Text 40"/>
          <p:cNvSpPr/>
          <p:nvPr/>
        </p:nvSpPr>
        <p:spPr>
          <a:xfrm>
            <a:off x="878681" y="3971925"/>
            <a:ext cx="51557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816" dirty="0"/>
          </a:p>
        </p:txBody>
      </p:sp>
      <p:sp>
        <p:nvSpPr>
          <p:cNvPr id="63" name="Text 41"/>
          <p:cNvSpPr/>
          <p:nvPr/>
        </p:nvSpPr>
        <p:spPr>
          <a:xfrm>
            <a:off x="859681" y="4114800"/>
            <a:ext cx="5535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spc="5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UNIAPP APP</a:t>
            </a:r>
            <a:endParaRPr lang="en-US" sz="600" dirty="0"/>
          </a:p>
        </p:txBody>
      </p:sp>
      <p:sp>
        <p:nvSpPr>
          <p:cNvPr id="64" name="Text 42"/>
          <p:cNvSpPr/>
          <p:nvPr/>
        </p:nvSpPr>
        <p:spPr>
          <a:xfrm>
            <a:off x="1592855" y="3944836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0015" y="4029075"/>
            <a:ext cx="114300" cy="114300"/>
          </a:xfrm>
          <a:prstGeom prst="rect">
            <a:avLst/>
          </a:prstGeom>
        </p:spPr>
      </p:pic>
      <p:sp>
        <p:nvSpPr>
          <p:cNvPr id="66" name="Text 43"/>
          <p:cNvSpPr/>
          <p:nvPr/>
        </p:nvSpPr>
        <p:spPr>
          <a:xfrm>
            <a:off x="1857013" y="4021931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我的任务</a:t>
            </a:r>
            <a:endParaRPr lang="en-US" sz="759" dirty="0"/>
          </a:p>
        </p:txBody>
      </p:sp>
      <p:sp>
        <p:nvSpPr>
          <p:cNvPr id="67" name="Text 44"/>
          <p:cNvSpPr/>
          <p:nvPr/>
        </p:nvSpPr>
        <p:spPr>
          <a:xfrm>
            <a:off x="3140928" y="3944836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78088" y="4029075"/>
            <a:ext cx="114300" cy="114300"/>
          </a:xfrm>
          <a:prstGeom prst="rect">
            <a:avLst/>
          </a:prstGeom>
        </p:spPr>
      </p:pic>
      <p:sp>
        <p:nvSpPr>
          <p:cNvPr id="69" name="Text 45"/>
          <p:cNvSpPr/>
          <p:nvPr/>
        </p:nvSpPr>
        <p:spPr>
          <a:xfrm>
            <a:off x="3405086" y="4021931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扫码识别</a:t>
            </a:r>
            <a:endParaRPr lang="en-US" sz="759" dirty="0"/>
          </a:p>
        </p:txBody>
      </p:sp>
      <p:sp>
        <p:nvSpPr>
          <p:cNvPr id="70" name="Text 46"/>
          <p:cNvSpPr/>
          <p:nvPr/>
        </p:nvSpPr>
        <p:spPr>
          <a:xfrm>
            <a:off x="4689113" y="3944836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26273" y="4029075"/>
            <a:ext cx="114300" cy="114300"/>
          </a:xfrm>
          <a:prstGeom prst="rect">
            <a:avLst/>
          </a:prstGeom>
        </p:spPr>
      </p:pic>
      <p:sp>
        <p:nvSpPr>
          <p:cNvPr id="72" name="Text 47"/>
          <p:cNvSpPr/>
          <p:nvPr/>
        </p:nvSpPr>
        <p:spPr>
          <a:xfrm>
            <a:off x="4953271" y="4021931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执行反馈</a:t>
            </a:r>
            <a:endParaRPr lang="en-US" sz="759" dirty="0"/>
          </a:p>
        </p:txBody>
      </p:sp>
      <p:sp>
        <p:nvSpPr>
          <p:cNvPr id="73" name="Text 48"/>
          <p:cNvSpPr/>
          <p:nvPr/>
        </p:nvSpPr>
        <p:spPr>
          <a:xfrm>
            <a:off x="6237186" y="3944836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74346" y="4029075"/>
            <a:ext cx="114300" cy="114300"/>
          </a:xfrm>
          <a:prstGeom prst="rect">
            <a:avLst/>
          </a:prstGeom>
        </p:spPr>
      </p:pic>
      <p:sp>
        <p:nvSpPr>
          <p:cNvPr id="75" name="Text 49"/>
          <p:cNvSpPr/>
          <p:nvPr/>
        </p:nvSpPr>
        <p:spPr>
          <a:xfrm>
            <a:off x="6501344" y="4021931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验收申请</a:t>
            </a:r>
            <a:endParaRPr lang="en-US" sz="759" dirty="0"/>
          </a:p>
        </p:txBody>
      </p:sp>
      <p:sp>
        <p:nvSpPr>
          <p:cNvPr id="76" name="Text 50"/>
          <p:cNvSpPr/>
          <p:nvPr/>
        </p:nvSpPr>
        <p:spPr>
          <a:xfrm>
            <a:off x="7785259" y="3944836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22419" y="4029075"/>
            <a:ext cx="114300" cy="114300"/>
          </a:xfrm>
          <a:prstGeom prst="rect">
            <a:avLst/>
          </a:prstGeom>
        </p:spPr>
      </p:pic>
      <p:sp>
        <p:nvSpPr>
          <p:cNvPr id="78" name="Text 51"/>
          <p:cNvSpPr/>
          <p:nvPr/>
        </p:nvSpPr>
        <p:spPr>
          <a:xfrm>
            <a:off x="8049417" y="4021931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759" dirty="0"/>
          </a:p>
        </p:txBody>
      </p:sp>
      <p:pic>
        <p:nvPicPr>
          <p:cNvPr id="7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0050" y="4400550"/>
            <a:ext cx="8343900" cy="457200"/>
          </a:xfrm>
          <a:prstGeom prst="rect">
            <a:avLst/>
          </a:prstGeom>
        </p:spPr>
      </p:pic>
      <p:sp>
        <p:nvSpPr>
          <p:cNvPr id="80" name="Text 52"/>
          <p:cNvSpPr/>
          <p:nvPr/>
        </p:nvSpPr>
        <p:spPr>
          <a:xfrm>
            <a:off x="403622" y="4404122"/>
            <a:ext cx="8336756" cy="450056"/>
          </a:xfrm>
          <a:prstGeom prst="roundRect">
            <a:avLst>
              <a:gd name="adj" fmla="val 33862"/>
            </a:avLst>
          </a:prstGeom>
          <a:noFill/>
          <a:ln w="7144">
            <a:solidFill>
              <a:srgbClr val="C4B5FD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5781" y="4493419"/>
            <a:ext cx="271463" cy="271463"/>
          </a:xfrm>
          <a:prstGeom prst="rect">
            <a:avLst/>
          </a:prstGeom>
        </p:spPr>
      </p:pic>
      <p:pic>
        <p:nvPicPr>
          <p:cNvPr id="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2931" y="4550569"/>
            <a:ext cx="157163" cy="157163"/>
          </a:xfrm>
          <a:prstGeom prst="rect">
            <a:avLst/>
          </a:prstGeom>
        </p:spPr>
      </p:pic>
      <p:sp>
        <p:nvSpPr>
          <p:cNvPr id="83" name="Text 53"/>
          <p:cNvSpPr/>
          <p:nvPr/>
        </p:nvSpPr>
        <p:spPr>
          <a:xfrm>
            <a:off x="878681" y="4514850"/>
            <a:ext cx="555427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5B21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buNone/>
            </a:pPr>
            <a:r>
              <a:rPr lang="en-US" sz="816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能力</a:t>
            </a:r>
            <a:endParaRPr lang="en-US" sz="816" dirty="0"/>
          </a:p>
        </p:txBody>
      </p:sp>
      <p:sp>
        <p:nvSpPr>
          <p:cNvPr id="84" name="Text 54"/>
          <p:cNvSpPr/>
          <p:nvPr/>
        </p:nvSpPr>
        <p:spPr>
          <a:xfrm>
            <a:off x="878681" y="4657725"/>
            <a:ext cx="5554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spc="59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POWERED</a:t>
            </a:r>
            <a:endParaRPr lang="en-US" sz="600" dirty="0"/>
          </a:p>
        </p:txBody>
      </p:sp>
      <p:sp>
        <p:nvSpPr>
          <p:cNvPr id="85" name="Text 55"/>
          <p:cNvSpPr/>
          <p:nvPr/>
        </p:nvSpPr>
        <p:spPr>
          <a:xfrm>
            <a:off x="1632704" y="4487761"/>
            <a:ext cx="789898" cy="282778"/>
          </a:xfrm>
          <a:prstGeom prst="roundRect">
            <a:avLst>
              <a:gd name="adj" fmla="val 336499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769864" y="4572000"/>
            <a:ext cx="114300" cy="114300"/>
          </a:xfrm>
          <a:prstGeom prst="rect">
            <a:avLst/>
          </a:prstGeom>
        </p:spPr>
      </p:pic>
      <p:sp>
        <p:nvSpPr>
          <p:cNvPr id="87" name="Text 56"/>
          <p:cNvSpPr/>
          <p:nvPr/>
        </p:nvSpPr>
        <p:spPr>
          <a:xfrm>
            <a:off x="1896213" y="4564856"/>
            <a:ext cx="4343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对话</a:t>
            </a:r>
            <a:endParaRPr lang="en-US" sz="759" dirty="0"/>
          </a:p>
        </p:txBody>
      </p:sp>
      <p:sp>
        <p:nvSpPr>
          <p:cNvPr id="88" name="Text 57"/>
          <p:cNvSpPr/>
          <p:nvPr/>
        </p:nvSpPr>
        <p:spPr>
          <a:xfrm>
            <a:off x="2818455" y="4487761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55615" y="4572000"/>
            <a:ext cx="114300" cy="114300"/>
          </a:xfrm>
          <a:prstGeom prst="rect">
            <a:avLst/>
          </a:prstGeom>
        </p:spPr>
      </p:pic>
      <p:sp>
        <p:nvSpPr>
          <p:cNvPr id="90" name="Text 58"/>
          <p:cNvSpPr/>
          <p:nvPr/>
        </p:nvSpPr>
        <p:spPr>
          <a:xfrm>
            <a:off x="3082613" y="4564856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方案草稿</a:t>
            </a:r>
            <a:endParaRPr lang="en-US" sz="759" dirty="0"/>
          </a:p>
        </p:txBody>
      </p:sp>
      <p:sp>
        <p:nvSpPr>
          <p:cNvPr id="91" name="Text 59"/>
          <p:cNvSpPr/>
          <p:nvPr/>
        </p:nvSpPr>
        <p:spPr>
          <a:xfrm>
            <a:off x="4060128" y="4487761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197288" y="4572000"/>
            <a:ext cx="114300" cy="114300"/>
          </a:xfrm>
          <a:prstGeom prst="rect">
            <a:avLst/>
          </a:prstGeom>
        </p:spPr>
      </p:pic>
      <p:sp>
        <p:nvSpPr>
          <p:cNvPr id="93" name="Text 60"/>
          <p:cNvSpPr/>
          <p:nvPr/>
        </p:nvSpPr>
        <p:spPr>
          <a:xfrm>
            <a:off x="4324286" y="4564856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图纸识别</a:t>
            </a:r>
            <a:endParaRPr lang="en-US" sz="759" dirty="0"/>
          </a:p>
        </p:txBody>
      </p:sp>
      <p:sp>
        <p:nvSpPr>
          <p:cNvPr id="94" name="Text 61"/>
          <p:cNvSpPr/>
          <p:nvPr/>
        </p:nvSpPr>
        <p:spPr>
          <a:xfrm>
            <a:off x="5301913" y="4487761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5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39073" y="4572000"/>
            <a:ext cx="114300" cy="114300"/>
          </a:xfrm>
          <a:prstGeom prst="rect">
            <a:avLst/>
          </a:prstGeom>
        </p:spPr>
      </p:pic>
      <p:sp>
        <p:nvSpPr>
          <p:cNvPr id="96" name="Text 62"/>
          <p:cNvSpPr/>
          <p:nvPr/>
        </p:nvSpPr>
        <p:spPr>
          <a:xfrm>
            <a:off x="5566071" y="4564856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照片检查</a:t>
            </a:r>
            <a:endParaRPr lang="en-US" sz="759" dirty="0"/>
          </a:p>
        </p:txBody>
      </p:sp>
      <p:sp>
        <p:nvSpPr>
          <p:cNvPr id="97" name="Text 63"/>
          <p:cNvSpPr/>
          <p:nvPr/>
        </p:nvSpPr>
        <p:spPr>
          <a:xfrm>
            <a:off x="6543586" y="4487761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0746" y="4572000"/>
            <a:ext cx="114300" cy="114300"/>
          </a:xfrm>
          <a:prstGeom prst="rect">
            <a:avLst/>
          </a:prstGeom>
        </p:spPr>
      </p:pic>
      <p:sp>
        <p:nvSpPr>
          <p:cNvPr id="99" name="Text 64"/>
          <p:cNvSpPr/>
          <p:nvPr/>
        </p:nvSpPr>
        <p:spPr>
          <a:xfrm>
            <a:off x="6807744" y="4564856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安全交底</a:t>
            </a:r>
            <a:endParaRPr lang="en-US" sz="759" dirty="0"/>
          </a:p>
        </p:txBody>
      </p:sp>
      <p:sp>
        <p:nvSpPr>
          <p:cNvPr id="100" name="Text 65"/>
          <p:cNvSpPr/>
          <p:nvPr/>
        </p:nvSpPr>
        <p:spPr>
          <a:xfrm>
            <a:off x="7785259" y="4487761"/>
            <a:ext cx="845820" cy="282778"/>
          </a:xfrm>
          <a:prstGeom prst="roundRect">
            <a:avLst>
              <a:gd name="adj" fmla="val 336499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DDD6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922419" y="4572000"/>
            <a:ext cx="114300" cy="114300"/>
          </a:xfrm>
          <a:prstGeom prst="rect">
            <a:avLst/>
          </a:prstGeom>
        </p:spPr>
      </p:pic>
      <p:sp>
        <p:nvSpPr>
          <p:cNvPr id="102" name="Text 66"/>
          <p:cNvSpPr/>
          <p:nvPr/>
        </p:nvSpPr>
        <p:spPr>
          <a:xfrm>
            <a:off x="8049417" y="4564856"/>
            <a:ext cx="4889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75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194" y="1202271"/>
            <a:ext cx="4557713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0" y="2387464"/>
            <a:ext cx="360045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143500" y="3100946"/>
            <a:ext cx="360045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143500" y="3661283"/>
            <a:ext cx="360045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872319" y="314325"/>
            <a:ext cx="4158552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 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HIGHLIGHT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组态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72319" y="457200"/>
            <a:ext cx="3398511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组态画布，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数字孪生车间图纸</a:t>
            </a:r>
            <a:endParaRPr lang="en-US" sz="1631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871" y="502853"/>
            <a:ext cx="3238128" cy="142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03622" y="866515"/>
            <a:ext cx="4564856" cy="3987664"/>
          </a:xfrm>
          <a:prstGeom prst="roundRect">
            <a:avLst>
              <a:gd name="adj" fmla="val 430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228600" dist="76200" dir="5400000">
              <a:srgbClr val="1C1917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7194" y="870086"/>
            <a:ext cx="4557713" cy="335756"/>
          </a:xfrm>
          <a:prstGeom prst="rect">
            <a:avLst/>
          </a:prstGeom>
          <a:solidFill>
            <a:srgbClr val="FCFC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21494" y="1002246"/>
            <a:ext cx="64294" cy="64294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21494" y="970099"/>
            <a:ext cx="362679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buNone/>
            </a:pPr>
            <a:r>
              <a:rPr lang="en-US" sz="731" b="1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组态画布 · 装置单元示意</a:t>
            </a:r>
            <a:endParaRPr lang="en-US" sz="731" dirty="0"/>
          </a:p>
        </p:txBody>
      </p:sp>
      <p:sp>
        <p:nvSpPr>
          <p:cNvPr id="17" name="Text 13"/>
          <p:cNvSpPr/>
          <p:nvPr/>
        </p:nvSpPr>
        <p:spPr>
          <a:xfrm>
            <a:off x="4166146" y="952240"/>
            <a:ext cx="164306" cy="164306"/>
          </a:xfrm>
          <a:prstGeom prst="roundRect">
            <a:avLst>
              <a:gd name="adj" fmla="val 4058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162574" y="948668"/>
            <a:ext cx="196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387602" y="952240"/>
            <a:ext cx="164306" cy="164306"/>
          </a:xfrm>
          <a:prstGeom prst="roundRect">
            <a:avLst>
              <a:gd name="adj" fmla="val 4058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384030" y="948668"/>
            <a:ext cx="196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596210" y="984386"/>
            <a:ext cx="26367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496491" y="1295140"/>
            <a:ext cx="4379119" cy="3273289"/>
          </a:xfrm>
          <a:prstGeom prst="roundRect">
            <a:avLst>
              <a:gd name="adj" fmla="val 3492"/>
            </a:avLst>
          </a:prstGeom>
          <a:solidFill>
            <a:srgbClr val="FCFCFA"/>
          </a:solidFill>
          <a:ln w="7144">
            <a:solidFill>
              <a:srgbClr val="F0EF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1298711"/>
            <a:ext cx="4371975" cy="326614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494" y="4679156"/>
            <a:ext cx="64294" cy="64294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21494" y="4657725"/>
            <a:ext cx="915739" cy="125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 / 管线 / 阀门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1417141" y="4679156"/>
            <a:ext cx="64294" cy="64294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1417141" y="4657725"/>
            <a:ext cx="846534" cy="125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隔离点标注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2067223" y="4679156"/>
            <a:ext cx="64294" cy="64294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2067223" y="4657725"/>
            <a:ext cx="795528" cy="125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自由锚点连线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2803029" y="4679156"/>
            <a:ext cx="64294" cy="64294"/>
          </a:xfrm>
          <a:prstGeom prst="roundRect">
            <a:avLst>
              <a:gd name="adj" fmla="val 44444"/>
            </a:avLst>
          </a:prstGeom>
          <a:solidFill>
            <a:srgbClr val="A8A2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803029" y="4657725"/>
            <a:ext cx="2047577" cy="125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框选编辑</a:t>
            </a:r>
            <a:endParaRPr lang="en-US" sz="7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1609799"/>
            <a:ext cx="314325" cy="314325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797" y="1684809"/>
            <a:ext cx="164306" cy="16430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79269" y="1681237"/>
            <a:ext cx="220113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标准图例图元库 种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436519" y="1609799"/>
            <a:ext cx="1235869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19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126</a:t>
            </a:r>
            <a:pPr algn="l" indent="0" marL="0">
              <a:buNone/>
            </a:pPr>
            <a:r>
              <a:rPr lang="en-US" sz="1013" b="1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1519" dirty="0"/>
          </a:p>
        </p:txBody>
      </p:sp>
      <p:sp>
        <p:nvSpPr>
          <p:cNvPr id="36" name="Text 29"/>
          <p:cNvSpPr/>
          <p:nvPr/>
        </p:nvSpPr>
        <p:spPr>
          <a:xfrm>
            <a:off x="5579269" y="1895549"/>
            <a:ext cx="314325" cy="381186"/>
          </a:xfrm>
          <a:prstGeom prst="roundRect">
            <a:avLst>
              <a:gd name="adj" fmla="val 24242"/>
            </a:avLst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5929313" y="1895549"/>
            <a:ext cx="485775" cy="381186"/>
          </a:xfrm>
          <a:prstGeom prst="roundRect">
            <a:avLst>
              <a:gd name="adj" fmla="val 19990"/>
            </a:avLst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450806" y="1895549"/>
            <a:ext cx="314325" cy="381186"/>
          </a:xfrm>
          <a:prstGeom prst="roundRect">
            <a:avLst>
              <a:gd name="adj" fmla="val 24242"/>
            </a:avLst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6800850" y="1895549"/>
            <a:ext cx="314325" cy="381186"/>
          </a:xfrm>
          <a:prstGeom prst="roundRect">
            <a:avLst>
              <a:gd name="adj" fmla="val 24242"/>
            </a:avLst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7150894" y="1895549"/>
            <a:ext cx="485775" cy="381186"/>
          </a:xfrm>
          <a:prstGeom prst="roundRect">
            <a:avLst>
              <a:gd name="adj" fmla="val 19990"/>
            </a:avLst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5579269" y="1866974"/>
            <a:ext cx="2093119" cy="409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700" dirty="0">
                <a:solidFill>
                  <a:srgbClr val="44403C"/>
                </a:solidFill>
                <a:highlight>
                  <a:srgbClr val="F5F5F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</a:t>
            </a:r>
            <a:endParaRPr lang="en-US" sz="731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F5F5F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pPr algn="l" indent="0" marL="0">
              <a:lnSpc>
                <a:spcPts val="1485"/>
              </a:lnSpc>
              <a:buNone/>
            </a:pPr>
            <a:r>
              <a:rPr lang="en-US" sz="700" dirty="0">
                <a:solidFill>
                  <a:srgbClr val="44403C"/>
                </a:solidFill>
                <a:highlight>
                  <a:srgbClr val="F5F5F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管道管件</a:t>
            </a:r>
            <a:endParaRPr lang="en-US" sz="731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F5F5F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pPr algn="l" indent="0" marL="0">
              <a:lnSpc>
                <a:spcPts val="1485"/>
              </a:lnSpc>
              <a:buNone/>
            </a:pPr>
            <a:r>
              <a:rPr lang="en-US" sz="700" dirty="0">
                <a:solidFill>
                  <a:srgbClr val="44403C"/>
                </a:solidFill>
                <a:highlight>
                  <a:srgbClr val="F5F5F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阀门</a:t>
            </a:r>
            <a:endParaRPr lang="en-US" sz="731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F5F5F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pPr algn="l" indent="0" marL="0">
              <a:lnSpc>
                <a:spcPts val="1485"/>
              </a:lnSpc>
              <a:buNone/>
            </a:pPr>
            <a:r>
              <a:rPr lang="en-US" sz="700" dirty="0">
                <a:solidFill>
                  <a:srgbClr val="44403C"/>
                </a:solidFill>
                <a:highlight>
                  <a:srgbClr val="F5F5F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</a:t>
            </a:r>
            <a:endParaRPr lang="en-US" sz="731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F5F5F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pPr algn="l" indent="0" marL="0">
              <a:lnSpc>
                <a:spcPts val="1485"/>
              </a:lnSpc>
              <a:buNone/>
            </a:pPr>
            <a:r>
              <a:rPr lang="en-US" sz="700" dirty="0">
                <a:solidFill>
                  <a:srgbClr val="44403C"/>
                </a:solidFill>
                <a:highlight>
                  <a:srgbClr val="F5F5F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电气安全</a:t>
            </a:r>
            <a:endParaRPr lang="en-US" sz="731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F5F5F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31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788" y="2498192"/>
            <a:ext cx="314325" cy="314325"/>
          </a:xfrm>
          <a:prstGeom prst="rect">
            <a:avLst/>
          </a:prstGeom>
        </p:spPr>
      </p:pic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797" y="2573201"/>
            <a:ext cx="164306" cy="16430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579269" y="2498192"/>
            <a:ext cx="3150394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自由锚点 ·「点哪连哪」智能连线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5579269" y="2683929"/>
            <a:ext cx="3150394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73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 / 管线边框任意点点击即连线端点，吸附反馈点实时跟随，正交走线、绘图零门槛</a:t>
            </a:r>
            <a:endParaRPr lang="en-US" sz="731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788" y="3211674"/>
            <a:ext cx="314325" cy="314325"/>
          </a:xfrm>
          <a:prstGeom prst="rect">
            <a:avLst/>
          </a:prstGeom>
        </p:spPr>
      </p:pic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797" y="3286683"/>
            <a:ext cx="164306" cy="16430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579269" y="3211674"/>
            <a:ext cx="3150394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生成主数据 · 预览确认两步流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5579269" y="3397411"/>
            <a:ext cx="296677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73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图纸一键生成设备 / 管线 / 隔离点主数据，预览确认后才落库，杜绝误录</a:t>
            </a:r>
            <a:endParaRPr lang="en-US" sz="731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788" y="3772012"/>
            <a:ext cx="314325" cy="314325"/>
          </a:xfrm>
          <a:prstGeom prst="rect">
            <a:avLst/>
          </a:prstGeom>
        </p:spPr>
      </p:pic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797" y="3847021"/>
            <a:ext cx="164306" cy="164306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579269" y="3772012"/>
            <a:ext cx="3132786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 ⇄ 台账 双向联动</a:t>
            </a:r>
            <a:endParaRPr lang="en-US" sz="900" dirty="0"/>
          </a:p>
        </p:txBody>
      </p:sp>
      <p:sp>
        <p:nvSpPr>
          <p:cNvPr id="53" name="Text 40"/>
          <p:cNvSpPr/>
          <p:nvPr/>
        </p:nvSpPr>
        <p:spPr>
          <a:xfrm>
            <a:off x="5579269" y="3957749"/>
            <a:ext cx="2506228" cy="16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731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lnSpc>
                <a:spcPts val="1207"/>
              </a:lnSpc>
              <a:buNone/>
            </a:pPr>
            <a:r>
              <a:rPr lang="en-US" sz="73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图纸、盲板台账、现场实物三者绑定，点击图元直达档案</a:t>
            </a:r>
            <a:endParaRPr lang="en-US" sz="73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872319" y="314325"/>
            <a:ext cx="394328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 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HIGHLIGHT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赋能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72319" y="457200"/>
            <a:ext cx="3222590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深度赋能，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私有化大模型驱动</a:t>
            </a:r>
            <a:endParaRPr lang="en-US" sz="163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7" y="502853"/>
            <a:ext cx="3405671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62943"/>
            <a:ext cx="8343900" cy="35804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32622" y="1052252"/>
            <a:ext cx="1478756" cy="421481"/>
          </a:xfrm>
          <a:prstGeom prst="roundRect">
            <a:avLst>
              <a:gd name="adj" fmla="val 31638"/>
            </a:avLst>
          </a:prstGeom>
          <a:solidFill>
            <a:srgbClr val="FFFFFF"/>
          </a:solidFill>
          <a:ln w="7144">
            <a:solidFill>
              <a:srgbClr val="E9D5FF"/>
            </a:solidFill>
            <a:prstDash val="solid"/>
          </a:ln>
          <a:effectLst>
            <a:outerShdw sx="100000" sy="100000" kx="0" ky="0" algn="bl" rotWithShape="0" blurRad="171450" dist="57150" dir="5400000">
              <a:srgbClr val="8B5CF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1134405"/>
            <a:ext cx="257175" cy="25717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213" y="1191555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264819" y="1134405"/>
            <a:ext cx="9194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智能问答对话</a:t>
            </a:r>
            <a:endParaRPr lang="en-US" sz="816" dirty="0"/>
          </a:p>
        </p:txBody>
      </p:sp>
      <p:sp>
        <p:nvSpPr>
          <p:cNvPr id="14" name="Text 7"/>
          <p:cNvSpPr/>
          <p:nvPr/>
        </p:nvSpPr>
        <p:spPr>
          <a:xfrm>
            <a:off x="4264819" y="1284424"/>
            <a:ext cx="919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业务知识即时答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6232922" y="1580890"/>
            <a:ext cx="1478756" cy="421481"/>
          </a:xfrm>
          <a:prstGeom prst="roundRect">
            <a:avLst>
              <a:gd name="adj" fmla="val 31638"/>
            </a:avLst>
          </a:prstGeom>
          <a:solidFill>
            <a:srgbClr val="FFFFFF"/>
          </a:solidFill>
          <a:ln w="7144">
            <a:solidFill>
              <a:srgbClr val="E9D5FF"/>
            </a:solidFill>
            <a:prstDash val="solid"/>
          </a:ln>
          <a:effectLst>
            <a:outerShdw sx="100000" sy="100000" kx="0" ky="0" algn="bl" rotWithShape="0" blurRad="171450" dist="57150" dir="5400000">
              <a:srgbClr val="8B5CF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363" y="1663043"/>
            <a:ext cx="257175" cy="257175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513" y="1720193"/>
            <a:ext cx="142875" cy="1428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633133" y="1663043"/>
            <a:ext cx="101409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隔离方案草稿生成</a:t>
            </a:r>
            <a:endParaRPr lang="en-US" sz="816" dirty="0"/>
          </a:p>
        </p:txBody>
      </p:sp>
      <p:sp>
        <p:nvSpPr>
          <p:cNvPr id="19" name="Text 10"/>
          <p:cNvSpPr/>
          <p:nvPr/>
        </p:nvSpPr>
        <p:spPr>
          <a:xfrm>
            <a:off x="6652562" y="1813061"/>
            <a:ext cx="9752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一键起草隔离点方案</a:t>
            </a:r>
            <a:endParaRPr lang="en-US" sz="700" dirty="0"/>
          </a:p>
        </p:txBody>
      </p:sp>
      <p:sp>
        <p:nvSpPr>
          <p:cNvPr id="20" name="Text 11"/>
          <p:cNvSpPr/>
          <p:nvPr/>
        </p:nvSpPr>
        <p:spPr>
          <a:xfrm>
            <a:off x="6204347" y="3009640"/>
            <a:ext cx="1478756" cy="421481"/>
          </a:xfrm>
          <a:prstGeom prst="roundRect">
            <a:avLst>
              <a:gd name="adj" fmla="val 31638"/>
            </a:avLst>
          </a:prstGeom>
          <a:solidFill>
            <a:srgbClr val="FFFFFF"/>
          </a:solidFill>
          <a:ln w="7144">
            <a:solidFill>
              <a:srgbClr val="E9D5FF"/>
            </a:solidFill>
            <a:prstDash val="solid"/>
          </a:ln>
          <a:effectLst>
            <a:outerShdw sx="100000" sy="100000" kx="0" ky="0" algn="bl" rotWithShape="0" blurRad="171450" dist="57150" dir="5400000">
              <a:srgbClr val="8B5CF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788" y="3091793"/>
            <a:ext cx="257175" cy="257175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938" y="3148943"/>
            <a:ext cx="142875" cy="14287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596002" y="3091793"/>
            <a:ext cx="103120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图纸智能识别</a:t>
            </a:r>
            <a:endParaRPr lang="en-US" sz="816" dirty="0"/>
          </a:p>
        </p:txBody>
      </p:sp>
      <p:sp>
        <p:nvSpPr>
          <p:cNvPr id="24" name="Text 13"/>
          <p:cNvSpPr/>
          <p:nvPr/>
        </p:nvSpPr>
        <p:spPr>
          <a:xfrm>
            <a:off x="6636544" y="3241811"/>
            <a:ext cx="9501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图元自动提取入库</a:t>
            </a:r>
            <a:endParaRPr lang="en-US" sz="700" dirty="0"/>
          </a:p>
        </p:txBody>
      </p:sp>
      <p:sp>
        <p:nvSpPr>
          <p:cNvPr id="25" name="Text 14"/>
          <p:cNvSpPr/>
          <p:nvPr/>
        </p:nvSpPr>
        <p:spPr>
          <a:xfrm>
            <a:off x="3832622" y="3166802"/>
            <a:ext cx="1478756" cy="421481"/>
          </a:xfrm>
          <a:prstGeom prst="roundRect">
            <a:avLst>
              <a:gd name="adj" fmla="val 31638"/>
            </a:avLst>
          </a:prstGeom>
          <a:solidFill>
            <a:srgbClr val="FFFFFF"/>
          </a:solidFill>
          <a:ln w="7144">
            <a:solidFill>
              <a:srgbClr val="E9D5FF"/>
            </a:solidFill>
            <a:prstDash val="solid"/>
          </a:ln>
          <a:effectLst>
            <a:outerShdw sx="100000" sy="100000" kx="0" ky="0" algn="bl" rotWithShape="0" blurRad="171450" dist="57150" dir="5400000">
              <a:srgbClr val="8B5CF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3" y="3248955"/>
            <a:ext cx="257175" cy="257175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86213" y="3306105"/>
            <a:ext cx="142875" cy="142875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4232833" y="3248955"/>
            <a:ext cx="101409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作业照片合规检查</a:t>
            </a:r>
            <a:endParaRPr lang="en-US" sz="816" dirty="0"/>
          </a:p>
        </p:txBody>
      </p:sp>
      <p:sp>
        <p:nvSpPr>
          <p:cNvPr id="29" name="Text 16"/>
          <p:cNvSpPr/>
          <p:nvPr/>
        </p:nvSpPr>
        <p:spPr>
          <a:xfrm>
            <a:off x="4264819" y="3398974"/>
            <a:ext cx="9501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现场拍照自动核验</a:t>
            </a:r>
            <a:endParaRPr lang="en-US" sz="700" dirty="0"/>
          </a:p>
        </p:txBody>
      </p:sp>
      <p:sp>
        <p:nvSpPr>
          <p:cNvPr id="30" name="Text 17"/>
          <p:cNvSpPr/>
          <p:nvPr/>
        </p:nvSpPr>
        <p:spPr>
          <a:xfrm>
            <a:off x="1446609" y="3009640"/>
            <a:ext cx="1478756" cy="421481"/>
          </a:xfrm>
          <a:prstGeom prst="roundRect">
            <a:avLst>
              <a:gd name="adj" fmla="val 31638"/>
            </a:avLst>
          </a:prstGeom>
          <a:solidFill>
            <a:srgbClr val="FFFFFF"/>
          </a:solidFill>
          <a:ln w="7144">
            <a:solidFill>
              <a:srgbClr val="E9D5FF"/>
            </a:solidFill>
            <a:prstDash val="solid"/>
          </a:ln>
          <a:effectLst>
            <a:outerShdw sx="100000" sy="100000" kx="0" ky="0" algn="bl" rotWithShape="0" blurRad="171450" dist="57150" dir="5400000">
              <a:srgbClr val="8B5CF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3050" y="3091793"/>
            <a:ext cx="257175" cy="257175"/>
          </a:xfrm>
          <a:prstGeom prst="rect">
            <a:avLst/>
          </a:prstGeom>
        </p:spPr>
      </p:pic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" y="3148943"/>
            <a:ext cx="142875" cy="142875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1878806" y="3091793"/>
            <a:ext cx="95011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安全交底书生成</a:t>
            </a:r>
            <a:endParaRPr lang="en-US" sz="816" dirty="0"/>
          </a:p>
        </p:txBody>
      </p:sp>
      <p:sp>
        <p:nvSpPr>
          <p:cNvPr id="34" name="Text 19"/>
          <p:cNvSpPr/>
          <p:nvPr/>
        </p:nvSpPr>
        <p:spPr>
          <a:xfrm>
            <a:off x="1878806" y="3241811"/>
            <a:ext cx="9501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规范条款自动成文</a:t>
            </a:r>
            <a:endParaRPr lang="en-US" sz="700" dirty="0"/>
          </a:p>
        </p:txBody>
      </p:sp>
      <p:sp>
        <p:nvSpPr>
          <p:cNvPr id="35" name="Text 20"/>
          <p:cNvSpPr/>
          <p:nvPr/>
        </p:nvSpPr>
        <p:spPr>
          <a:xfrm>
            <a:off x="1432322" y="1509452"/>
            <a:ext cx="1478756" cy="421481"/>
          </a:xfrm>
          <a:prstGeom prst="roundRect">
            <a:avLst>
              <a:gd name="adj" fmla="val 31638"/>
            </a:avLst>
          </a:prstGeom>
          <a:solidFill>
            <a:srgbClr val="FFFFFF"/>
          </a:solidFill>
          <a:ln w="7144">
            <a:solidFill>
              <a:srgbClr val="E9D5FF"/>
            </a:solidFill>
            <a:prstDash val="solid"/>
          </a:ln>
          <a:effectLst>
            <a:outerShdw sx="100000" sy="100000" kx="0" ky="0" algn="bl" rotWithShape="0" blurRad="171450" dist="57150" dir="5400000">
              <a:srgbClr val="8B5CF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8763" y="1591605"/>
            <a:ext cx="257175" cy="257175"/>
          </a:xfrm>
          <a:prstGeom prst="rect">
            <a:avLst/>
          </a:prstGeom>
        </p:spPr>
      </p:pic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5913" y="1648755"/>
            <a:ext cx="142875" cy="142875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1864519" y="1591605"/>
            <a:ext cx="95011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安全知识库检索</a:t>
            </a:r>
            <a:endParaRPr lang="en-US" sz="816" dirty="0"/>
          </a:p>
        </p:txBody>
      </p:sp>
      <p:sp>
        <p:nvSpPr>
          <p:cNvPr id="39" name="Text 22"/>
          <p:cNvSpPr/>
          <p:nvPr/>
        </p:nvSpPr>
        <p:spPr>
          <a:xfrm>
            <a:off x="1864519" y="1741624"/>
            <a:ext cx="9501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标准法规秒级定位</a:t>
            </a:r>
            <a:endParaRPr lang="en-US" sz="70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0050" y="4543425"/>
            <a:ext cx="8343900" cy="314325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403622" y="4546997"/>
            <a:ext cx="8336756" cy="307181"/>
          </a:xfrm>
          <a:prstGeom prst="roundRect">
            <a:avLst>
              <a:gd name="adj" fmla="val 37209"/>
            </a:avLst>
          </a:prstGeom>
          <a:noFill/>
          <a:ln w="7144">
            <a:solidFill>
              <a:srgbClr val="8B5CF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18073" y="4639866"/>
            <a:ext cx="121444" cy="121444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2818098" y="4636294"/>
            <a:ext cx="64008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支持企业</a:t>
            </a:r>
            <a:endParaRPr lang="en-US" sz="759" dirty="0"/>
          </a:p>
        </p:txBody>
      </p:sp>
      <p:sp>
        <p:nvSpPr>
          <p:cNvPr id="44" name="Text 25"/>
          <p:cNvSpPr/>
          <p:nvPr/>
        </p:nvSpPr>
        <p:spPr>
          <a:xfrm>
            <a:off x="3296729" y="4636294"/>
            <a:ext cx="11441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私有化大模型部署</a:t>
            </a:r>
            <a:endParaRPr lang="en-US" sz="759" dirty="0"/>
          </a:p>
        </p:txBody>
      </p:sp>
      <p:sp>
        <p:nvSpPr>
          <p:cNvPr id="45" name="Text 26"/>
          <p:cNvSpPr/>
          <p:nvPr/>
        </p:nvSpPr>
        <p:spPr>
          <a:xfrm>
            <a:off x="4175410" y="4636294"/>
            <a:ext cx="22148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buNone/>
            </a:pPr>
            <a:r>
              <a:rPr lang="en-US" sz="759" dirty="0">
                <a:solidFill>
                  <a:srgbClr val="5B21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</a:t>
            </a:r>
            <a:pPr algn="l" indent="0" marL="0">
              <a:buNone/>
            </a:pPr>
            <a:r>
              <a:rPr lang="en-US" sz="759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系列 · </a:t>
            </a:r>
            <a:pPr algn="l" indent="0" marL="0">
              <a:buNone/>
            </a:pPr>
            <a:r>
              <a:rPr lang="en-US" sz="759" dirty="0">
                <a:solidFill>
                  <a:srgbClr val="5B21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OpenAI</a:t>
            </a:r>
            <a:pPr algn="l" indent="0" marL="0">
              <a:buNone/>
            </a:pPr>
            <a:r>
              <a:rPr lang="en-US" sz="759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兼容网关），</a:t>
            </a:r>
            <a:endParaRPr lang="en-US" sz="759" dirty="0"/>
          </a:p>
        </p:txBody>
      </p:sp>
      <p:sp>
        <p:nvSpPr>
          <p:cNvPr id="46" name="Text 27"/>
          <p:cNvSpPr/>
          <p:nvPr/>
        </p:nvSpPr>
        <p:spPr>
          <a:xfrm>
            <a:off x="6025865" y="4636294"/>
            <a:ext cx="25823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9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数据不出厂</a:t>
            </a:r>
            <a:endParaRPr lang="en-US" sz="759" dirty="0"/>
          </a:p>
        </p:txBody>
      </p:sp>
      <p:pic>
        <p:nvPicPr>
          <p:cNvPr id="47" name="Image 17" descr="/tmp/h2p-fit-1789401547163-9cobnm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43350" y="1834493"/>
            <a:ext cx="1257300" cy="1257300"/>
          </a:xfrm>
          <a:prstGeom prst="rect">
            <a:avLst/>
          </a:prstGeom>
        </p:spPr>
      </p:pic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21981" y="2120243"/>
            <a:ext cx="300038" cy="300038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4293729" y="2470286"/>
            <a:ext cx="89029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9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buNone/>
            </a:pPr>
            <a:r>
              <a:rPr lang="en-US" sz="1125" b="1" spc="9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中枢</a:t>
            </a:r>
            <a:endParaRPr lang="en-US" sz="1125" dirty="0"/>
          </a:p>
        </p:txBody>
      </p:sp>
      <p:sp>
        <p:nvSpPr>
          <p:cNvPr id="50" name="Text 29"/>
          <p:cNvSpPr/>
          <p:nvPr/>
        </p:nvSpPr>
        <p:spPr>
          <a:xfrm>
            <a:off x="4268725" y="2713174"/>
            <a:ext cx="884119" cy="12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42" kern="0" dirty="0">
                <a:solidFill>
                  <a:srgbClr val="EDE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· VLM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872319" y="314325"/>
            <a:ext cx="2580555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特色亮点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72319" y="457200"/>
            <a:ext cx="2434447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六大亮点</a:t>
            </a:r>
            <a:pPr algn="l" indent="0" marL="0">
              <a:lnSpc>
                <a:spcPts val="1958"/>
              </a:lnSpc>
              <a:buNone/>
            </a:pPr>
            <a:endParaRPr lang="en-US" sz="1631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痛点一一对应</a:t>
            </a:r>
            <a:pPr algn="l" indent="0" marL="0">
              <a:lnSpc>
                <a:spcPts val="1958"/>
              </a:lnSpc>
              <a:buNone/>
            </a:pPr>
            <a:endParaRPr lang="en-US" sz="163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106" y="502853"/>
            <a:ext cx="4572893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03622" y="866515"/>
            <a:ext cx="2669307" cy="1790179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1222586"/>
            <a:ext cx="371475" cy="3714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28" y="1311883"/>
            <a:ext cx="192881" cy="1928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2931" y="1686930"/>
            <a:ext cx="2290688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数字孪生台账</a:t>
            </a:r>
            <a:endParaRPr lang="en-US" sz="1069" dirty="0"/>
          </a:p>
        </p:txBody>
      </p:sp>
      <p:sp>
        <p:nvSpPr>
          <p:cNvPr id="13" name="Text 7"/>
          <p:cNvSpPr/>
          <p:nvPr/>
        </p:nvSpPr>
        <p:spPr>
          <a:xfrm>
            <a:off x="592931" y="1965536"/>
            <a:ext cx="2290688" cy="36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图纸一键生成主数据，图纸=台账=现场，三者一致</a:t>
            </a:r>
            <a:endParaRPr lang="en-US" sz="776" dirty="0"/>
          </a:p>
        </p:txBody>
      </p:sp>
      <p:sp>
        <p:nvSpPr>
          <p:cNvPr id="14" name="Text 8"/>
          <p:cNvSpPr/>
          <p:nvPr/>
        </p:nvSpPr>
        <p:spPr>
          <a:xfrm>
            <a:off x="3237235" y="866515"/>
            <a:ext cx="2669418" cy="1790179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544" y="1222586"/>
            <a:ext cx="371475" cy="371475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41" y="1311883"/>
            <a:ext cx="192881" cy="19288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426544" y="1686930"/>
            <a:ext cx="22908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全程AI</a:t>
            </a:r>
            <a:endParaRPr lang="en-US" sz="1069" dirty="0"/>
          </a:p>
        </p:txBody>
      </p:sp>
      <p:sp>
        <p:nvSpPr>
          <p:cNvPr id="18" name="Text 10"/>
          <p:cNvSpPr/>
          <p:nvPr/>
        </p:nvSpPr>
        <p:spPr>
          <a:xfrm>
            <a:off x="3426544" y="1965536"/>
            <a:ext cx="2290800" cy="36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识别图纸、起草隔离方案、拍照核验，不再凭经验</a:t>
            </a:r>
            <a:pPr algn="l" indent="0" marL="0">
              <a:lnSpc>
                <a:spcPts val="1320"/>
              </a:lnSpc>
              <a:buNone/>
            </a:pPr>
            <a:endParaRPr lang="en-US" sz="776" dirty="0"/>
          </a:p>
        </p:txBody>
      </p:sp>
      <p:sp>
        <p:nvSpPr>
          <p:cNvPr id="19" name="Text 11"/>
          <p:cNvSpPr/>
          <p:nvPr/>
        </p:nvSpPr>
        <p:spPr>
          <a:xfrm>
            <a:off x="6070960" y="866515"/>
            <a:ext cx="2669307" cy="1790179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0269" y="1222586"/>
            <a:ext cx="371475" cy="371475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566" y="1311883"/>
            <a:ext cx="192881" cy="19288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260269" y="1686930"/>
            <a:ext cx="2290688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全程闭环</a:t>
            </a:r>
            <a:pPr algn="l" indent="0" marL="0">
              <a:buNone/>
            </a:pPr>
            <a:pPr algn="l" indent="0" marL="0">
              <a:buNone/>
            </a:pPr>
            <a:pPr algn="l" indent="0" marL="0">
              <a:buNone/>
            </a:pPr>
            <a:endParaRPr lang="en-US" sz="1069" dirty="0"/>
          </a:p>
        </p:txBody>
      </p:sp>
      <p:sp>
        <p:nvSpPr>
          <p:cNvPr id="23" name="Text 13"/>
          <p:cNvSpPr/>
          <p:nvPr/>
        </p:nvSpPr>
        <p:spPr>
          <a:xfrm>
            <a:off x="6260269" y="1965536"/>
            <a:ext cx="2290688" cy="36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九环节状态机不可跳步，吹扫置换、隔离确认缺一不可</a:t>
            </a:r>
            <a:pPr algn="l" indent="0" marL="0">
              <a:lnSpc>
                <a:spcPts val="1320"/>
              </a:lnSpc>
              <a:buNone/>
            </a:pPr>
            <a:endParaRPr lang="en-US" sz="776" dirty="0"/>
          </a:p>
        </p:txBody>
      </p:sp>
      <p:sp>
        <p:nvSpPr>
          <p:cNvPr id="24" name="Text 14"/>
          <p:cNvSpPr/>
          <p:nvPr/>
        </p:nvSpPr>
        <p:spPr>
          <a:xfrm>
            <a:off x="403622" y="2821000"/>
            <a:ext cx="2669307" cy="1790291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931" y="3260899"/>
            <a:ext cx="371475" cy="371475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228" y="3350196"/>
            <a:ext cx="192881" cy="192881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92931" y="3725242"/>
            <a:ext cx="2290688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全程可溯</a:t>
            </a:r>
            <a:endParaRPr lang="en-US" sz="1069" dirty="0"/>
          </a:p>
        </p:txBody>
      </p:sp>
      <p:sp>
        <p:nvSpPr>
          <p:cNvPr id="28" name="Text 16"/>
          <p:cNvSpPr/>
          <p:nvPr/>
        </p:nvSpPr>
        <p:spPr>
          <a:xfrm>
            <a:off x="592931" y="4003849"/>
            <a:ext cx="2290688" cy="180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WR→BP 编号一单到底，全程留痕，进度一屏总览</a:t>
            </a:r>
            <a:pPr algn="l" indent="0" marL="0">
              <a:lnSpc>
                <a:spcPts val="1320"/>
              </a:lnSpc>
              <a:buNone/>
            </a:pPr>
            <a:endParaRPr lang="en-US" sz="776" dirty="0"/>
          </a:p>
        </p:txBody>
      </p:sp>
      <p:sp>
        <p:nvSpPr>
          <p:cNvPr id="29" name="Text 17"/>
          <p:cNvSpPr/>
          <p:nvPr/>
        </p:nvSpPr>
        <p:spPr>
          <a:xfrm>
            <a:off x="3237235" y="2821000"/>
            <a:ext cx="2669418" cy="1790291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6544" y="3260899"/>
            <a:ext cx="371475" cy="371475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15841" y="3350196"/>
            <a:ext cx="192881" cy="192881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3426544" y="3725242"/>
            <a:ext cx="22908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双端协同</a:t>
            </a:r>
            <a:endParaRPr lang="en-US" sz="1069" dirty="0"/>
          </a:p>
        </p:txBody>
      </p:sp>
      <p:sp>
        <p:nvSpPr>
          <p:cNvPr id="33" name="Text 19"/>
          <p:cNvSpPr/>
          <p:nvPr/>
        </p:nvSpPr>
        <p:spPr>
          <a:xfrm>
            <a:off x="3426544" y="4003849"/>
            <a:ext cx="2290800" cy="180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端管理 + 移动端现场扫码执行，管理执行两不误</a:t>
            </a:r>
            <a:endParaRPr lang="en-US" sz="776" dirty="0"/>
          </a:p>
        </p:txBody>
      </p:sp>
      <p:sp>
        <p:nvSpPr>
          <p:cNvPr id="34" name="Text 20"/>
          <p:cNvSpPr/>
          <p:nvPr/>
        </p:nvSpPr>
        <p:spPr>
          <a:xfrm>
            <a:off x="6070960" y="2821000"/>
            <a:ext cx="2669307" cy="1790291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0269" y="3177071"/>
            <a:ext cx="371475" cy="371475"/>
          </a:xfrm>
          <a:prstGeom prst="rect">
            <a:avLst/>
          </a:prstGeom>
        </p:spPr>
      </p:pic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9566" y="3266368"/>
            <a:ext cx="192881" cy="192881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260269" y="3641415"/>
            <a:ext cx="2290688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GB 30871 合规</a:t>
            </a:r>
            <a:pPr algn="l" indent="0" marL="0">
              <a:buNone/>
            </a:pPr>
            <a:endParaRPr lang="en-US" sz="1069" dirty="0"/>
          </a:p>
        </p:txBody>
      </p:sp>
      <p:sp>
        <p:nvSpPr>
          <p:cNvPr id="38" name="Text 22"/>
          <p:cNvSpPr/>
          <p:nvPr/>
        </p:nvSpPr>
        <p:spPr>
          <a:xfrm>
            <a:off x="6260269" y="3920021"/>
            <a:ext cx="2290688" cy="36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76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JSA 分析、双人审核、监护人到位等规范要求系统内置</a:t>
            </a:r>
            <a:endParaRPr lang="en-US" sz="776" dirty="0"/>
          </a:p>
        </p:txBody>
      </p:sp>
      <p:sp>
        <p:nvSpPr>
          <p:cNvPr id="39" name="Text 23"/>
          <p:cNvSpPr/>
          <p:nvPr/>
        </p:nvSpPr>
        <p:spPr>
          <a:xfrm>
            <a:off x="400050" y="4729163"/>
            <a:ext cx="8343900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1" spc="44" kern="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四大痛点 · 六项亮点 —— 每道坎都有对应的数字化解法</a:t>
            </a:r>
            <a:pPr algn="ctr" indent="0" marL="0">
              <a:buNone/>
            </a:pPr>
            <a:pPr algn="ctr" indent="0" marL="0">
              <a:buNone/>
            </a:pPr>
            <a:endParaRPr lang="en-US" sz="73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356" y="1888071"/>
            <a:ext cx="233835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402769" y="1888071"/>
            <a:ext cx="233835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241182" y="1888071"/>
            <a:ext cx="233846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-1285875"/>
            <a:ext cx="40005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5063" y="-1285875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381409"/>
            <a:ext cx="5727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D9488">
                    <a:alpha val="2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872319" y="314325"/>
            <a:ext cx="372733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pPr algn="l" indent="0" marL="0">
              <a:buNone/>
            </a:pPr>
            <a:r>
              <a:rPr lang="en-US" sz="700" b="1" spc="129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演进路线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72319" y="457200"/>
            <a:ext cx="3219609" cy="26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三阶段演进，</a:t>
            </a:r>
            <a:pPr algn="l" indent="0" marL="0">
              <a:lnSpc>
                <a:spcPts val="1958"/>
              </a:lnSpc>
              <a:buNone/>
            </a:pPr>
            <a:r>
              <a:rPr lang="en-US" sz="1631" b="1" spc="33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从上线到集团化</a:t>
            </a:r>
            <a:endParaRPr lang="en-US" sz="1631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01" y="502853"/>
            <a:ext cx="3727698" cy="1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2874" y="449275"/>
            <a:ext cx="1474557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54" kern="0" dirty="0">
                <a:solidFill>
                  <a:srgbClr val="A8A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盲板抽堵作业全流程数字化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1148693"/>
            <a:ext cx="8201025" cy="285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1804" y="938809"/>
            <a:ext cx="1316526" cy="184023"/>
          </a:xfrm>
          <a:prstGeom prst="roundRect">
            <a:avLst>
              <a:gd name="adj" fmla="val 517080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33350" dist="57150" dir="5400000">
              <a:srgbClr val="0D9488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54664" y="948668"/>
            <a:ext cx="12708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9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pPr algn="ctr" indent="0" marL="0">
              <a:buNone/>
            </a:pPr>
            <a:r>
              <a:rPr lang="en-US" sz="700" b="1" spc="91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700" b="1" spc="91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</a:t>
            </a:r>
            <a:pPr algn="ctr" indent="0" marL="0">
              <a:buNone/>
            </a:pPr>
            <a:r>
              <a:rPr lang="en-US" sz="700" b="1" spc="91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在线运行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1729346" y="1102258"/>
            <a:ext cx="121444" cy="121444"/>
          </a:xfrm>
          <a:prstGeom prst="ellipse">
            <a:avLst/>
          </a:prstGeom>
          <a:solidFill>
            <a:srgbClr val="0D9488"/>
          </a:solidFill>
          <a:ln w="21431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511278" y="1102258"/>
            <a:ext cx="121444" cy="121444"/>
          </a:xfrm>
          <a:prstGeom prst="ellipse">
            <a:avLst/>
          </a:prstGeom>
          <a:solidFill>
            <a:srgbClr val="FFFFFF"/>
          </a:solidFill>
          <a:ln w="21431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292206" y="1102258"/>
            <a:ext cx="121444" cy="121444"/>
          </a:xfrm>
          <a:prstGeom prst="ellipse">
            <a:avLst/>
          </a:prstGeom>
          <a:solidFill>
            <a:srgbClr val="FFFFFF"/>
          </a:solidFill>
          <a:ln w="21431">
            <a:solidFill>
              <a:srgbClr val="D6D3D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420155"/>
            <a:ext cx="2666963" cy="34375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3622" y="1423727"/>
            <a:ext cx="2659819" cy="3430451"/>
          </a:xfrm>
          <a:prstGeom prst="roundRect">
            <a:avLst>
              <a:gd name="adj" fmla="val 6446"/>
            </a:avLst>
          </a:prstGeom>
          <a:noFill/>
          <a:ln w="7144">
            <a:solidFill>
              <a:srgbClr val="99F6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64356" y="1570174"/>
            <a:ext cx="7274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6" b="1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</a:t>
            </a:r>
            <a:endParaRPr lang="en-US" sz="1406" dirty="0"/>
          </a:p>
        </p:txBody>
      </p:sp>
      <p:sp>
        <p:nvSpPr>
          <p:cNvPr id="21" name="Text 15"/>
          <p:cNvSpPr/>
          <p:nvPr/>
        </p:nvSpPr>
        <p:spPr>
          <a:xfrm>
            <a:off x="1104714" y="1581747"/>
            <a:ext cx="909265" cy="184023"/>
          </a:xfrm>
          <a:prstGeom prst="roundRect">
            <a:avLst>
              <a:gd name="adj" fmla="val 517080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1104714" y="1591605"/>
            <a:ext cx="9092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39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当前版本</a:t>
            </a:r>
            <a:endParaRPr lang="en-US" sz="7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" y="2084524"/>
            <a:ext cx="121444" cy="1214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7238" y="2084524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九环节全流程上线</a:t>
            </a:r>
            <a:endParaRPr lang="en-US" sz="788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6" y="2405993"/>
            <a:ext cx="121444" cy="1214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7238" y="2405993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盲板台账与库存管理</a:t>
            </a:r>
            <a:endParaRPr lang="en-US" sz="788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356" y="2727461"/>
            <a:ext cx="121444" cy="1214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7238" y="2727461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PID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组态编辑器</a:t>
            </a:r>
            <a:endParaRPr lang="en-US" sz="788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356" y="3048930"/>
            <a:ext cx="121444" cy="1214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57238" y="3048930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788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356" y="3370399"/>
            <a:ext cx="121444" cy="12144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57238" y="3370399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移动端核心功能</a:t>
            </a:r>
            <a:endParaRPr lang="en-US" sz="788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356" y="3691868"/>
            <a:ext cx="121444" cy="12144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57238" y="3691868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类角色权限协同</a:t>
            </a:r>
            <a:endParaRPr lang="en-US" sz="788" dirty="0"/>
          </a:p>
        </p:txBody>
      </p:sp>
      <p:sp>
        <p:nvSpPr>
          <p:cNvPr id="35" name="Text 23"/>
          <p:cNvSpPr/>
          <p:nvPr/>
        </p:nvSpPr>
        <p:spPr>
          <a:xfrm>
            <a:off x="3242035" y="1423727"/>
            <a:ext cx="2659819" cy="3430451"/>
          </a:xfrm>
          <a:prstGeom prst="roundRect">
            <a:avLst>
              <a:gd name="adj" fmla="val 644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4"/>
          <p:cNvSpPr/>
          <p:nvPr/>
        </p:nvSpPr>
        <p:spPr>
          <a:xfrm>
            <a:off x="3402769" y="1570174"/>
            <a:ext cx="7274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6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</a:t>
            </a:r>
            <a:endParaRPr lang="en-US" sz="1406" dirty="0"/>
          </a:p>
        </p:txBody>
      </p:sp>
      <p:sp>
        <p:nvSpPr>
          <p:cNvPr id="37" name="Text 25"/>
          <p:cNvSpPr/>
          <p:nvPr/>
        </p:nvSpPr>
        <p:spPr>
          <a:xfrm>
            <a:off x="3943127" y="1573746"/>
            <a:ext cx="457758" cy="200025"/>
          </a:xfrm>
          <a:prstGeom prst="roundRect">
            <a:avLst>
              <a:gd name="adj" fmla="val 4757143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6"/>
          <p:cNvSpPr/>
          <p:nvPr/>
        </p:nvSpPr>
        <p:spPr>
          <a:xfrm>
            <a:off x="3943127" y="1584461"/>
            <a:ext cx="4577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39" kern="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演进中</a:t>
            </a:r>
            <a:endParaRPr lang="en-US" sz="7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2769" y="2084524"/>
            <a:ext cx="121444" cy="121444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595650" y="2084524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图纸导入深化</a:t>
            </a:r>
            <a:endParaRPr lang="en-US" sz="788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2769" y="2405993"/>
            <a:ext cx="121444" cy="12144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3595650" y="2405993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验收照片墙与影像归档</a:t>
            </a:r>
            <a:endParaRPr lang="en-US" sz="788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2769" y="2727461"/>
            <a:ext cx="121444" cy="121444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3595650" y="2727461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移动端真机发布</a:t>
            </a:r>
            <a:endParaRPr lang="en-US" sz="788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2769" y="3048930"/>
            <a:ext cx="121444" cy="121444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595650" y="3048930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审批流与消息通知增强</a:t>
            </a:r>
            <a:endParaRPr lang="en-US" sz="788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2769" y="3370399"/>
            <a:ext cx="121444" cy="121444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3595650" y="3370399"/>
            <a:ext cx="214546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安全知识库与检索增强</a:t>
            </a:r>
            <a:endParaRPr lang="en-US" sz="788" dirty="0"/>
          </a:p>
        </p:txBody>
      </p:sp>
      <p:sp>
        <p:nvSpPr>
          <p:cNvPr id="49" name="Text 32"/>
          <p:cNvSpPr/>
          <p:nvPr/>
        </p:nvSpPr>
        <p:spPr>
          <a:xfrm>
            <a:off x="6080447" y="1423727"/>
            <a:ext cx="2659931" cy="3430451"/>
          </a:xfrm>
          <a:prstGeom prst="roundRect">
            <a:avLst>
              <a:gd name="adj" fmla="val 644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1C191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3"/>
          <p:cNvSpPr/>
          <p:nvPr/>
        </p:nvSpPr>
        <p:spPr>
          <a:xfrm>
            <a:off x="6241182" y="1570174"/>
            <a:ext cx="7274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6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V3.0</a:t>
            </a:r>
            <a:endParaRPr lang="en-US" sz="1406" dirty="0"/>
          </a:p>
        </p:txBody>
      </p:sp>
      <p:sp>
        <p:nvSpPr>
          <p:cNvPr id="51" name="Text 34"/>
          <p:cNvSpPr/>
          <p:nvPr/>
        </p:nvSpPr>
        <p:spPr>
          <a:xfrm>
            <a:off x="6781540" y="1573746"/>
            <a:ext cx="367122" cy="200025"/>
          </a:xfrm>
          <a:prstGeom prst="roundRect">
            <a:avLst>
              <a:gd name="adj" fmla="val 4757143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5"/>
          <p:cNvSpPr/>
          <p:nvPr/>
        </p:nvSpPr>
        <p:spPr>
          <a:xfrm>
            <a:off x="6781540" y="1584461"/>
            <a:ext cx="3671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39" kern="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7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1182" y="2084524"/>
            <a:ext cx="121444" cy="121444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6434063" y="2084524"/>
            <a:ext cx="214558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多厂区集团化部署</a:t>
            </a:r>
            <a:endParaRPr lang="en-US" sz="788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1182" y="2405993"/>
            <a:ext cx="121444" cy="121444"/>
          </a:xfrm>
          <a:prstGeom prst="rect">
            <a:avLst/>
          </a:prstGeom>
        </p:spPr>
      </p:pic>
      <p:sp>
        <p:nvSpPr>
          <p:cNvPr id="56" name="Text 37"/>
          <p:cNvSpPr/>
          <p:nvPr/>
        </p:nvSpPr>
        <p:spPr>
          <a:xfrm>
            <a:off x="6434063" y="2405993"/>
            <a:ext cx="214558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IoT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智能盲板状态感知</a:t>
            </a:r>
            <a:endParaRPr lang="en-US" sz="788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1182" y="2727461"/>
            <a:ext cx="121444" cy="121444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6434063" y="2727461"/>
            <a:ext cx="214558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数字孪生大屏</a:t>
            </a:r>
            <a:endParaRPr lang="en-US" sz="788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1182" y="3048930"/>
            <a:ext cx="121444" cy="121444"/>
          </a:xfrm>
          <a:prstGeom prst="rect">
            <a:avLst/>
          </a:prstGeom>
        </p:spPr>
      </p:pic>
      <p:sp>
        <p:nvSpPr>
          <p:cNvPr id="60" name="Text 39"/>
          <p:cNvSpPr/>
          <p:nvPr/>
        </p:nvSpPr>
        <p:spPr>
          <a:xfrm>
            <a:off x="6434063" y="3048930"/>
            <a:ext cx="214558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预测性安全分析</a:t>
            </a:r>
            <a:endParaRPr lang="en-US" sz="788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1182" y="3370399"/>
            <a:ext cx="121444" cy="121444"/>
          </a:xfrm>
          <a:prstGeom prst="rect">
            <a:avLst/>
          </a:prstGeom>
        </p:spPr>
      </p:pic>
      <p:sp>
        <p:nvSpPr>
          <p:cNvPr id="62" name="Text 40"/>
          <p:cNvSpPr/>
          <p:nvPr/>
        </p:nvSpPr>
        <p:spPr>
          <a:xfrm>
            <a:off x="6434063" y="3370399"/>
            <a:ext cx="214558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与系统集成</a:t>
            </a:r>
            <a:endParaRPr lang="en-US" sz="7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463018" y="1543050"/>
            <a:ext cx="35719" cy="35719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7315200" y="1234418"/>
            <a:ext cx="28575" cy="28575"/>
          </a:xfrm>
          <a:prstGeom prst="ellipse">
            <a:avLst/>
          </a:prstGeom>
          <a:solidFill>
            <a:srgbClr val="99F6E4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6400800" y="3600450"/>
            <a:ext cx="21431" cy="21431"/>
          </a:xfrm>
          <a:prstGeom prst="ellipse">
            <a:avLst/>
          </a:prstGeom>
          <a:solidFill>
            <a:srgbClr val="6EE7B7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2194471" y="3908971"/>
            <a:ext cx="35719" cy="35719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3107287" y="1203722"/>
            <a:ext cx="292931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31" b="1" spc="307" kern="0" dirty="0">
                <a:solidFill>
                  <a:srgbClr val="99F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</a:t>
            </a:r>
            <a:pPr algn="ctr" indent="0" marL="0">
              <a:buNone/>
            </a:pPr>
            <a:r>
              <a:rPr lang="en-US" sz="731" b="1" spc="307" kern="0" dirty="0">
                <a:solidFill>
                  <a:srgbClr val="99F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731" b="1" spc="307" kern="0" dirty="0">
                <a:solidFill>
                  <a:srgbClr val="99F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</a:t>
            </a:r>
            <a:pPr algn="ctr" indent="0" marL="0">
              <a:buNone/>
            </a:pPr>
            <a:r>
              <a:rPr lang="en-US" sz="731" b="1" spc="307" kern="0" dirty="0">
                <a:solidFill>
                  <a:srgbClr val="99F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安全管理数字化</a:t>
            </a:r>
            <a:endParaRPr lang="en-US" sz="731" dirty="0"/>
          </a:p>
        </p:txBody>
      </p:sp>
      <p:sp>
        <p:nvSpPr>
          <p:cNvPr id="10" name="Text 5"/>
          <p:cNvSpPr/>
          <p:nvPr/>
        </p:nvSpPr>
        <p:spPr>
          <a:xfrm>
            <a:off x="2926007" y="1503759"/>
            <a:ext cx="3291873" cy="31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88" spc="473" kern="0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让每一次抽堵盲板</a:t>
            </a:r>
            <a:endParaRPr lang="en-US" sz="1688" dirty="0"/>
          </a:p>
        </p:txBody>
      </p:sp>
      <p:sp>
        <p:nvSpPr>
          <p:cNvPr id="11" name="Text 6"/>
          <p:cNvSpPr/>
          <p:nvPr/>
        </p:nvSpPr>
        <p:spPr>
          <a:xfrm>
            <a:off x="1937397" y="2003822"/>
            <a:ext cx="5269095" cy="563213"/>
          </a:xfrm>
          <a:prstGeom prst="rect">
            <a:avLst/>
          </a:prstGeom>
          <a:noFill/>
          <a:ln/>
          <a:effectLst>
            <a:outerShdw sx="100000" sy="100000" kx="0" ky="0" algn="bl" rotWithShape="0" blurRad="419100" dist="952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488" b="1" spc="349" kern="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· 可视 · 可溯</a:t>
            </a:r>
            <a:endParaRPr lang="en-US" sz="3488" dirty="0"/>
          </a:p>
        </p:txBody>
      </p:sp>
      <p:sp>
        <p:nvSpPr>
          <p:cNvPr id="12" name="Text 7"/>
          <p:cNvSpPr/>
          <p:nvPr/>
        </p:nvSpPr>
        <p:spPr>
          <a:xfrm>
            <a:off x="3009662" y="2769689"/>
            <a:ext cx="995839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828" y="2864644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96828" y="2861072"/>
            <a:ext cx="621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844" dirty="0"/>
          </a:p>
        </p:txBody>
      </p:sp>
      <p:sp>
        <p:nvSpPr>
          <p:cNvPr id="15" name="Text 9"/>
          <p:cNvSpPr/>
          <p:nvPr/>
        </p:nvSpPr>
        <p:spPr>
          <a:xfrm>
            <a:off x="4074081" y="2769689"/>
            <a:ext cx="995839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247" y="2864644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61247" y="2861072"/>
            <a:ext cx="621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全程可视</a:t>
            </a:r>
            <a:endParaRPr lang="en-US" sz="844" dirty="0"/>
          </a:p>
        </p:txBody>
      </p:sp>
      <p:sp>
        <p:nvSpPr>
          <p:cNvPr id="18" name="Text 11"/>
          <p:cNvSpPr/>
          <p:nvPr/>
        </p:nvSpPr>
        <p:spPr>
          <a:xfrm>
            <a:off x="5138499" y="2769689"/>
            <a:ext cx="995839" cy="318497"/>
          </a:xfrm>
          <a:prstGeom prst="roundRect">
            <a:avLst>
              <a:gd name="adj" fmla="val 2987618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5666" y="2864644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25666" y="2861072"/>
            <a:ext cx="621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数据可溯</a:t>
            </a:r>
            <a:endParaRPr lang="en-US" sz="844" dirty="0"/>
          </a:p>
        </p:txBody>
      </p:sp>
      <p:sp>
        <p:nvSpPr>
          <p:cNvPr id="21" name="Text 13"/>
          <p:cNvSpPr/>
          <p:nvPr/>
        </p:nvSpPr>
        <p:spPr>
          <a:xfrm>
            <a:off x="4371975" y="3246834"/>
            <a:ext cx="400050" cy="14288"/>
          </a:xfrm>
          <a:prstGeom prst="roundRect">
            <a:avLst>
              <a:gd name="adj" fmla="val 133329"/>
            </a:avLst>
          </a:prstGeom>
          <a:solidFill>
            <a:srgbClr val="99F6E4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3356209" y="3432572"/>
            <a:ext cx="243147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38" b="1" spc="248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欢迎试用</a:t>
            </a:r>
            <a:endParaRPr lang="en-US" sz="1238" dirty="0"/>
          </a:p>
        </p:txBody>
      </p:sp>
      <p:sp>
        <p:nvSpPr>
          <p:cNvPr id="23" name="Text 15"/>
          <p:cNvSpPr/>
          <p:nvPr/>
        </p:nvSpPr>
        <p:spPr>
          <a:xfrm>
            <a:off x="2908399" y="3818334"/>
            <a:ext cx="3327090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3" spc="42" kern="0" dirty="0">
                <a:solidFill>
                  <a:srgbClr val="CCFBF1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石化厂盲板管理系统 </a:t>
            </a:r>
            <a:pPr algn="ctr" indent="0" marL="0">
              <a:buNone/>
            </a:pPr>
            <a:r>
              <a:rPr lang="en-US" sz="703" spc="42" kern="0" dirty="0">
                <a:solidFill>
                  <a:srgbClr val="CCFBF1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</a:t>
            </a:r>
            <a:pPr algn="ctr" indent="0" marL="0">
              <a:buNone/>
            </a:pPr>
            <a:r>
              <a:rPr lang="en-US" sz="703" spc="42" kern="0" dirty="0">
                <a:solidFill>
                  <a:srgbClr val="CCFBF1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盲板抽堵作业全流程数字化管理平台 · </a:t>
            </a:r>
            <a:pPr algn="ctr" indent="0" marL="0">
              <a:buNone/>
            </a:pPr>
            <a:r>
              <a:rPr lang="en-US" sz="703" spc="42" kern="0" dirty="0">
                <a:solidFill>
                  <a:srgbClr val="CCFBF1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</a:t>
            </a:r>
            <a:endParaRPr lang="en-US" sz="70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2026-09-14T15:59:09Z</dcterms:created>
  <dcterms:modified xsi:type="dcterms:W3CDTF">2026-09-14T15:59:09Z</dcterms:modified>
</cp:coreProperties>
</file>